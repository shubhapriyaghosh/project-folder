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9" r:id="rId1"/>
  </p:sldMasterIdLst>
  <p:sldIdLst>
    <p:sldId id="284" r:id="rId2"/>
    <p:sldId id="273" r:id="rId3"/>
    <p:sldId id="275" r:id="rId4"/>
    <p:sldId id="280" r:id="rId5"/>
    <p:sldId id="274" r:id="rId6"/>
    <p:sldId id="258" r:id="rId7"/>
    <p:sldId id="281" r:id="rId8"/>
    <p:sldId id="282" r:id="rId9"/>
    <p:sldId id="283" r:id="rId10"/>
    <p:sldId id="286" r:id="rId11"/>
    <p:sldId id="266" r:id="rId12"/>
    <p:sldId id="269" r:id="rId13"/>
    <p:sldId id="270" r:id="rId14"/>
    <p:sldId id="271" r:id="rId15"/>
    <p:sldId id="277" r:id="rId16"/>
    <p:sldId id="276" r:id="rId17"/>
    <p:sldId id="279" r:id="rId18"/>
    <p:sldId id="28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195FFD5-0141-4A08-B0B0-13CA2E5D703E}"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B7F101-4D30-4856-9CF5-776908819763}" type="slidenum">
              <a:rPr lang="en-IN" smtClean="0"/>
              <a:t>‹#›</a:t>
            </a:fld>
            <a:endParaRPr lang="en-IN"/>
          </a:p>
        </p:txBody>
      </p:sp>
    </p:spTree>
    <p:extLst>
      <p:ext uri="{BB962C8B-B14F-4D97-AF65-F5344CB8AC3E}">
        <p14:creationId xmlns:p14="http://schemas.microsoft.com/office/powerpoint/2010/main" val="1773269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95FFD5-0141-4A08-B0B0-13CA2E5D703E}"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B7F101-4D30-4856-9CF5-776908819763}" type="slidenum">
              <a:rPr lang="en-IN" smtClean="0"/>
              <a:t>‹#›</a:t>
            </a:fld>
            <a:endParaRPr lang="en-IN"/>
          </a:p>
        </p:txBody>
      </p:sp>
    </p:spTree>
    <p:extLst>
      <p:ext uri="{BB962C8B-B14F-4D97-AF65-F5344CB8AC3E}">
        <p14:creationId xmlns:p14="http://schemas.microsoft.com/office/powerpoint/2010/main" val="16000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95FFD5-0141-4A08-B0B0-13CA2E5D703E}"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B7F101-4D30-4856-9CF5-776908819763}" type="slidenum">
              <a:rPr lang="en-IN" smtClean="0"/>
              <a:t>‹#›</a:t>
            </a:fld>
            <a:endParaRPr lang="en-IN"/>
          </a:p>
        </p:txBody>
      </p:sp>
    </p:spTree>
    <p:extLst>
      <p:ext uri="{BB962C8B-B14F-4D97-AF65-F5344CB8AC3E}">
        <p14:creationId xmlns:p14="http://schemas.microsoft.com/office/powerpoint/2010/main" val="3683277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195FFD5-0141-4A08-B0B0-13CA2E5D703E}" type="datetimeFigureOut">
              <a:rPr lang="en-IN" smtClean="0"/>
              <a:t>25-04-2026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8B7F101-4D30-4856-9CF5-776908819763}" type="slidenum">
              <a:rPr lang="en-IN" smtClean="0"/>
              <a:t>‹#›</a:t>
            </a:fld>
            <a:endParaRPr lang="en-IN"/>
          </a:p>
        </p:txBody>
      </p:sp>
    </p:spTree>
    <p:extLst>
      <p:ext uri="{BB962C8B-B14F-4D97-AF65-F5344CB8AC3E}">
        <p14:creationId xmlns:p14="http://schemas.microsoft.com/office/powerpoint/2010/main" val="526351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95FFD5-0141-4A08-B0B0-13CA2E5D703E}" type="datetimeFigureOut">
              <a:rPr lang="en-IN" smtClean="0"/>
              <a:t>25-04-2026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8B7F101-4D30-4856-9CF5-776908819763}" type="slidenum">
              <a:rPr lang="en-IN" smtClean="0"/>
              <a:t>‹#›</a:t>
            </a:fld>
            <a:endParaRPr lang="en-IN"/>
          </a:p>
        </p:txBody>
      </p:sp>
    </p:spTree>
    <p:extLst>
      <p:ext uri="{BB962C8B-B14F-4D97-AF65-F5344CB8AC3E}">
        <p14:creationId xmlns:p14="http://schemas.microsoft.com/office/powerpoint/2010/main" val="159222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195FFD5-0141-4A08-B0B0-13CA2E5D703E}" type="datetimeFigureOut">
              <a:rPr lang="en-IN" smtClean="0"/>
              <a:t>25-04-2026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8B7F101-4D30-4856-9CF5-776908819763}" type="slidenum">
              <a:rPr lang="en-IN" smtClean="0"/>
              <a:t>‹#›</a:t>
            </a:fld>
            <a:endParaRPr lang="en-IN"/>
          </a:p>
        </p:txBody>
      </p:sp>
    </p:spTree>
    <p:extLst>
      <p:ext uri="{BB962C8B-B14F-4D97-AF65-F5344CB8AC3E}">
        <p14:creationId xmlns:p14="http://schemas.microsoft.com/office/powerpoint/2010/main" val="2716364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95FFD5-0141-4A08-B0B0-13CA2E5D703E}" type="datetimeFigureOut">
              <a:rPr lang="en-IN" smtClean="0"/>
              <a:t>25-04-2026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8B7F101-4D30-4856-9CF5-776908819763}" type="slidenum">
              <a:rPr lang="en-IN" smtClean="0"/>
              <a:t>‹#›</a:t>
            </a:fld>
            <a:endParaRPr lang="en-IN"/>
          </a:p>
        </p:txBody>
      </p:sp>
    </p:spTree>
    <p:extLst>
      <p:ext uri="{BB962C8B-B14F-4D97-AF65-F5344CB8AC3E}">
        <p14:creationId xmlns:p14="http://schemas.microsoft.com/office/powerpoint/2010/main" val="1768696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95FFD5-0141-4A08-B0B0-13CA2E5D703E}" type="datetimeFigureOut">
              <a:rPr lang="en-IN" smtClean="0"/>
              <a:t>25-04-2026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8B7F101-4D30-4856-9CF5-776908819763}" type="slidenum">
              <a:rPr lang="en-IN" smtClean="0"/>
              <a:t>‹#›</a:t>
            </a:fld>
            <a:endParaRPr lang="en-IN"/>
          </a:p>
        </p:txBody>
      </p:sp>
    </p:spTree>
    <p:extLst>
      <p:ext uri="{BB962C8B-B14F-4D97-AF65-F5344CB8AC3E}">
        <p14:creationId xmlns:p14="http://schemas.microsoft.com/office/powerpoint/2010/main" val="205177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195FFD5-0141-4A08-B0B0-13CA2E5D703E}" type="datetimeFigureOut">
              <a:rPr lang="en-IN" smtClean="0"/>
              <a:t>25-04-2026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8B7F101-4D30-4856-9CF5-776908819763}" type="slidenum">
              <a:rPr lang="en-IN" smtClean="0"/>
              <a:t>‹#›</a:t>
            </a:fld>
            <a:endParaRPr lang="en-IN"/>
          </a:p>
        </p:txBody>
      </p:sp>
    </p:spTree>
    <p:extLst>
      <p:ext uri="{BB962C8B-B14F-4D97-AF65-F5344CB8AC3E}">
        <p14:creationId xmlns:p14="http://schemas.microsoft.com/office/powerpoint/2010/main" val="31792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95FFD5-0141-4A08-B0B0-13CA2E5D703E}"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B7F101-4D30-4856-9CF5-776908819763}" type="slidenum">
              <a:rPr lang="en-IN" smtClean="0"/>
              <a:t>‹#›</a:t>
            </a:fld>
            <a:endParaRPr lang="en-IN"/>
          </a:p>
        </p:txBody>
      </p:sp>
    </p:spTree>
    <p:extLst>
      <p:ext uri="{BB962C8B-B14F-4D97-AF65-F5344CB8AC3E}">
        <p14:creationId xmlns:p14="http://schemas.microsoft.com/office/powerpoint/2010/main" val="20818355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95FFD5-0141-4A08-B0B0-13CA2E5D703E}"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B7F101-4D30-4856-9CF5-776908819763}"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3623399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95FFD5-0141-4A08-B0B0-13CA2E5D703E}"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B7F101-4D30-4856-9CF5-776908819763}" type="slidenum">
              <a:rPr lang="en-IN" smtClean="0"/>
              <a:t>‹#›</a:t>
            </a:fld>
            <a:endParaRPr lang="en-IN"/>
          </a:p>
        </p:txBody>
      </p:sp>
    </p:spTree>
    <p:extLst>
      <p:ext uri="{BB962C8B-B14F-4D97-AF65-F5344CB8AC3E}">
        <p14:creationId xmlns:p14="http://schemas.microsoft.com/office/powerpoint/2010/main" val="5902537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95FFD5-0141-4A08-B0B0-13CA2E5D703E}"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B7F101-4D30-4856-9CF5-77690881976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298766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95FFD5-0141-4A08-B0B0-13CA2E5D703E}"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B7F101-4D30-4856-9CF5-776908819763}" type="slidenum">
              <a:rPr lang="en-IN" smtClean="0"/>
              <a:t>‹#›</a:t>
            </a:fld>
            <a:endParaRPr lang="en-IN"/>
          </a:p>
        </p:txBody>
      </p:sp>
    </p:spTree>
    <p:extLst>
      <p:ext uri="{BB962C8B-B14F-4D97-AF65-F5344CB8AC3E}">
        <p14:creationId xmlns:p14="http://schemas.microsoft.com/office/powerpoint/2010/main" val="15131441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95FFD5-0141-4A08-B0B0-13CA2E5D703E}"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B7F101-4D30-4856-9CF5-776908819763}" type="slidenum">
              <a:rPr lang="en-IN" smtClean="0"/>
              <a:t>‹#›</a:t>
            </a:fld>
            <a:endParaRPr lang="en-IN"/>
          </a:p>
        </p:txBody>
      </p:sp>
    </p:spTree>
    <p:extLst>
      <p:ext uri="{BB962C8B-B14F-4D97-AF65-F5344CB8AC3E}">
        <p14:creationId xmlns:p14="http://schemas.microsoft.com/office/powerpoint/2010/main" val="6212714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95FFD5-0141-4A08-B0B0-13CA2E5D703E}"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B7F101-4D30-4856-9CF5-776908819763}" type="slidenum">
              <a:rPr lang="en-IN" smtClean="0"/>
              <a:t>‹#›</a:t>
            </a:fld>
            <a:endParaRPr lang="en-IN"/>
          </a:p>
        </p:txBody>
      </p:sp>
    </p:spTree>
    <p:extLst>
      <p:ext uri="{BB962C8B-B14F-4D97-AF65-F5344CB8AC3E}">
        <p14:creationId xmlns:p14="http://schemas.microsoft.com/office/powerpoint/2010/main" val="1097772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195FFD5-0141-4A08-B0B0-13CA2E5D703E}" type="datetimeFigureOut">
              <a:rPr lang="en-IN" smtClean="0"/>
              <a:t>25-04-2026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8B7F101-4D30-4856-9CF5-776908819763}" type="slidenum">
              <a:rPr lang="en-IN" smtClean="0"/>
              <a:t>‹#›</a:t>
            </a:fld>
            <a:endParaRPr lang="en-IN"/>
          </a:p>
        </p:txBody>
      </p:sp>
    </p:spTree>
    <p:extLst>
      <p:ext uri="{BB962C8B-B14F-4D97-AF65-F5344CB8AC3E}">
        <p14:creationId xmlns:p14="http://schemas.microsoft.com/office/powerpoint/2010/main" val="1323733717"/>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kaggle.com/shivamb/real-or-fake-fake"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B217D-CA04-4868-A9DA-134C13D1B9C2}"/>
              </a:ext>
            </a:extLst>
          </p:cNvPr>
          <p:cNvSpPr>
            <a:spLocks noGrp="1"/>
          </p:cNvSpPr>
          <p:nvPr>
            <p:ph type="title"/>
          </p:nvPr>
        </p:nvSpPr>
        <p:spPr/>
        <p:txBody>
          <a:bodyPr/>
          <a:lstStyle/>
          <a:p>
            <a:r>
              <a:rPr lang="en-US" dirty="0"/>
              <a:t>      FAKE JOB IDENTIFICATION</a:t>
            </a:r>
            <a:br>
              <a:rPr lang="en-US" dirty="0"/>
            </a:br>
            <a:r>
              <a:rPr lang="en-US" dirty="0"/>
              <a:t>       </a:t>
            </a:r>
            <a:br>
              <a:rPr lang="en-US" dirty="0"/>
            </a:br>
            <a:r>
              <a:rPr lang="en-US" dirty="0"/>
              <a:t>     </a:t>
            </a:r>
            <a:endParaRPr lang="en-IN" dirty="0"/>
          </a:p>
        </p:txBody>
      </p:sp>
      <p:sp>
        <p:nvSpPr>
          <p:cNvPr id="3" name="Text Placeholder 2">
            <a:extLst>
              <a:ext uri="{FF2B5EF4-FFF2-40B4-BE49-F238E27FC236}">
                <a16:creationId xmlns:a16="http://schemas.microsoft.com/office/drawing/2014/main" id="{6DAF234C-CBAF-4C84-AC4E-F27DFF477D07}"/>
              </a:ext>
            </a:extLst>
          </p:cNvPr>
          <p:cNvSpPr>
            <a:spLocks noGrp="1"/>
          </p:cNvSpPr>
          <p:nvPr>
            <p:ph type="body" idx="1"/>
          </p:nvPr>
        </p:nvSpPr>
        <p:spPr/>
        <p:txBody>
          <a:bodyPr>
            <a:normAutofit fontScale="92500"/>
          </a:bodyPr>
          <a:lstStyle/>
          <a:p>
            <a:r>
              <a:rPr lang="en-US" dirty="0"/>
              <a:t>                                             PRESENTED BY</a:t>
            </a:r>
          </a:p>
          <a:p>
            <a:r>
              <a:rPr lang="en-US" dirty="0"/>
              <a:t>                                             SHUBHAPRIYA GHOSH</a:t>
            </a:r>
          </a:p>
          <a:p>
            <a:r>
              <a:rPr lang="en-US" dirty="0"/>
              <a:t>                                             DEPT : ADVANCED TECHNOLOGY DEVLOPMENT CENTRE</a:t>
            </a:r>
          </a:p>
          <a:p>
            <a:r>
              <a:rPr lang="en-US" dirty="0"/>
              <a:t>                                            </a:t>
            </a:r>
          </a:p>
        </p:txBody>
      </p:sp>
    </p:spTree>
    <p:extLst>
      <p:ext uri="{BB962C8B-B14F-4D97-AF65-F5344CB8AC3E}">
        <p14:creationId xmlns:p14="http://schemas.microsoft.com/office/powerpoint/2010/main" val="455321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95111-1F30-408F-9A2D-91CE9466D78A}"/>
              </a:ext>
            </a:extLst>
          </p:cNvPr>
          <p:cNvSpPr>
            <a:spLocks noGrp="1"/>
          </p:cNvSpPr>
          <p:nvPr>
            <p:ph type="title"/>
          </p:nvPr>
        </p:nvSpPr>
        <p:spPr/>
        <p:txBody>
          <a:bodyPr/>
          <a:lstStyle/>
          <a:p>
            <a:r>
              <a:rPr lang="en-IN" dirty="0"/>
              <a:t>Problem Statement</a:t>
            </a:r>
            <a:br>
              <a:rPr lang="en-IN" dirty="0"/>
            </a:br>
            <a:endParaRPr lang="en-IN" dirty="0"/>
          </a:p>
        </p:txBody>
      </p:sp>
      <p:sp>
        <p:nvSpPr>
          <p:cNvPr id="3" name="Content Placeholder 2">
            <a:extLst>
              <a:ext uri="{FF2B5EF4-FFF2-40B4-BE49-F238E27FC236}">
                <a16:creationId xmlns:a16="http://schemas.microsoft.com/office/drawing/2014/main" id="{6A9A4C0D-9753-44BC-9927-2EC90E581A47}"/>
              </a:ext>
            </a:extLst>
          </p:cNvPr>
          <p:cNvSpPr>
            <a:spLocks noGrp="1"/>
          </p:cNvSpPr>
          <p:nvPr>
            <p:ph idx="1"/>
          </p:nvPr>
        </p:nvSpPr>
        <p:spPr/>
        <p:txBody>
          <a:bodyPr/>
          <a:lstStyle/>
          <a:p>
            <a:r>
              <a:rPr lang="en-US" sz="2400" dirty="0"/>
              <a:t>This project aims to create a classifier that will have the capability to identify fake and real jobs. </a:t>
            </a:r>
            <a:r>
              <a:rPr lang="en-US" sz="2400"/>
              <a:t>Analyze </a:t>
            </a:r>
            <a:r>
              <a:rPr lang="en-US" sz="2400" dirty="0"/>
              <a:t>the classification using different machine learning based and deep learning based models and comparing their performances</a:t>
            </a:r>
            <a:r>
              <a:rPr lang="en-US" dirty="0"/>
              <a:t>.</a:t>
            </a:r>
            <a:endParaRPr lang="en-IN" dirty="0"/>
          </a:p>
        </p:txBody>
      </p:sp>
    </p:spTree>
    <p:extLst>
      <p:ext uri="{BB962C8B-B14F-4D97-AF65-F5344CB8AC3E}">
        <p14:creationId xmlns:p14="http://schemas.microsoft.com/office/powerpoint/2010/main" val="2172182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4FCCF-1948-4640-9CAF-26AB9A53D46F}"/>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0647EDAD-4551-4F4F-A6A9-8A698276D8F0}"/>
              </a:ext>
            </a:extLst>
          </p:cNvPr>
          <p:cNvSpPr>
            <a:spLocks noGrp="1"/>
          </p:cNvSpPr>
          <p:nvPr>
            <p:ph idx="1"/>
          </p:nvPr>
        </p:nvSpPr>
        <p:spPr/>
        <p:txBody>
          <a:bodyPr/>
          <a:lstStyle/>
          <a:p>
            <a:r>
              <a:rPr lang="en-US" sz="2000" dirty="0"/>
              <a:t>Now-a-days, there are a lot of job scams because of unemployment. There are a lot of websites which connect recruiter to a suitable candidate.</a:t>
            </a:r>
          </a:p>
          <a:p>
            <a:r>
              <a:rPr lang="en-US" sz="2000" dirty="0"/>
              <a:t>Later, people shift to a new job portal in search of real job but the fake recruiters join this portal as well. So, it is important to detect real and fake jobs</a:t>
            </a:r>
            <a:r>
              <a:rPr lang="en-US" dirty="0"/>
              <a:t>.</a:t>
            </a:r>
            <a:endParaRPr lang="en-IN" dirty="0"/>
          </a:p>
        </p:txBody>
      </p:sp>
    </p:spTree>
    <p:extLst>
      <p:ext uri="{BB962C8B-B14F-4D97-AF65-F5344CB8AC3E}">
        <p14:creationId xmlns:p14="http://schemas.microsoft.com/office/powerpoint/2010/main" val="337841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E81ED-A1A4-4643-ADFD-56D83D11DBA4}"/>
              </a:ext>
            </a:extLst>
          </p:cNvPr>
          <p:cNvSpPr>
            <a:spLocks noGrp="1"/>
          </p:cNvSpPr>
          <p:nvPr>
            <p:ph type="title"/>
          </p:nvPr>
        </p:nvSpPr>
        <p:spPr/>
        <p:txBody>
          <a:bodyPr/>
          <a:lstStyle/>
          <a:p>
            <a:r>
              <a:rPr lang="en-IN" dirty="0"/>
              <a:t>RELATED WORK</a:t>
            </a:r>
          </a:p>
        </p:txBody>
      </p:sp>
      <p:sp>
        <p:nvSpPr>
          <p:cNvPr id="3" name="Content Placeholder 2">
            <a:extLst>
              <a:ext uri="{FF2B5EF4-FFF2-40B4-BE49-F238E27FC236}">
                <a16:creationId xmlns:a16="http://schemas.microsoft.com/office/drawing/2014/main" id="{276868E4-7D3E-431D-9189-7EE223A466A6}"/>
              </a:ext>
            </a:extLst>
          </p:cNvPr>
          <p:cNvSpPr>
            <a:spLocks noGrp="1"/>
          </p:cNvSpPr>
          <p:nvPr>
            <p:ph idx="1"/>
          </p:nvPr>
        </p:nvSpPr>
        <p:spPr/>
        <p:txBody>
          <a:bodyPr/>
          <a:lstStyle/>
          <a:p>
            <a:r>
              <a:rPr lang="en-IN" dirty="0"/>
              <a:t>According to several studies,</a:t>
            </a:r>
            <a:r>
              <a:rPr lang="en-US" dirty="0"/>
              <a:t> there is a number of works on the detection of fake jobs as well as in related topics such as detection of fake news and spam mails have drawn special attention in the domain of online fake detection.</a:t>
            </a:r>
          </a:p>
          <a:p>
            <a:r>
              <a:rPr lang="en-US" dirty="0"/>
              <a:t>This can be implemented by extracting features from the content machine learning models are imposed to recognize fake jobs.</a:t>
            </a:r>
          </a:p>
          <a:p>
            <a:endParaRPr lang="en-IN" dirty="0"/>
          </a:p>
        </p:txBody>
      </p:sp>
    </p:spTree>
    <p:extLst>
      <p:ext uri="{BB962C8B-B14F-4D97-AF65-F5344CB8AC3E}">
        <p14:creationId xmlns:p14="http://schemas.microsoft.com/office/powerpoint/2010/main" val="2115732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0C573-D633-4561-803F-642A4D7AC31F}"/>
              </a:ext>
            </a:extLst>
          </p:cNvPr>
          <p:cNvSpPr>
            <a:spLocks noGrp="1"/>
          </p:cNvSpPr>
          <p:nvPr>
            <p:ph type="title"/>
          </p:nvPr>
        </p:nvSpPr>
        <p:spPr/>
        <p:txBody>
          <a:bodyPr/>
          <a:lstStyle/>
          <a:p>
            <a:r>
              <a:rPr lang="en-IN" dirty="0"/>
              <a:t>Dataset</a:t>
            </a:r>
            <a:br>
              <a:rPr lang="en-IN" dirty="0"/>
            </a:br>
            <a:endParaRPr lang="en-IN" dirty="0"/>
          </a:p>
        </p:txBody>
      </p:sp>
      <p:sp>
        <p:nvSpPr>
          <p:cNvPr id="3" name="Content Placeholder 2">
            <a:extLst>
              <a:ext uri="{FF2B5EF4-FFF2-40B4-BE49-F238E27FC236}">
                <a16:creationId xmlns:a16="http://schemas.microsoft.com/office/drawing/2014/main" id="{254F0896-891D-45FD-AFA9-944C157FEC69}"/>
              </a:ext>
            </a:extLst>
          </p:cNvPr>
          <p:cNvSpPr>
            <a:spLocks noGrp="1"/>
          </p:cNvSpPr>
          <p:nvPr>
            <p:ph idx="1"/>
          </p:nvPr>
        </p:nvSpPr>
        <p:spPr/>
        <p:txBody>
          <a:bodyPr/>
          <a:lstStyle/>
          <a:p>
            <a:r>
              <a:rPr lang="en-US" dirty="0"/>
              <a:t>Real or Fake Job Posting Dataset is used in this project.</a:t>
            </a:r>
          </a:p>
          <a:p>
            <a:r>
              <a:rPr lang="en-IN" b="0" strike="noStrike" spc="-1" dirty="0">
                <a:solidFill>
                  <a:srgbClr val="595959"/>
                </a:solidFill>
                <a:uFill>
                  <a:solidFill>
                    <a:srgbClr val="FFFFFF"/>
                  </a:solidFill>
                </a:uFill>
                <a:latin typeface="Lato"/>
                <a:ea typeface="Lato"/>
              </a:rPr>
              <a:t>The dataset provides </a:t>
            </a:r>
            <a:r>
              <a:rPr lang="en-US" b="0" strike="noStrike" spc="-1" dirty="0">
                <a:solidFill>
                  <a:srgbClr val="595959"/>
                </a:solidFill>
                <a:uFill>
                  <a:solidFill>
                    <a:srgbClr val="FFFFFF"/>
                  </a:solidFill>
                </a:uFill>
                <a:latin typeface="Lato"/>
                <a:ea typeface="Lato"/>
              </a:rPr>
              <a:t>both textual information and numerical about the jobs.</a:t>
            </a:r>
            <a:r>
              <a:rPr lang="en-US" spc="-1" dirty="0">
                <a:solidFill>
                  <a:srgbClr val="595959"/>
                </a:solidFill>
                <a:uFill>
                  <a:solidFill>
                    <a:srgbClr val="FFFFFF"/>
                  </a:solidFill>
                </a:uFill>
                <a:latin typeface="Lato"/>
                <a:ea typeface="Lato"/>
              </a:rPr>
              <a:t> job postings are categorized as either real or fake.</a:t>
            </a:r>
          </a:p>
          <a:p>
            <a:r>
              <a:rPr lang="en-US" b="0" strike="noStrike" spc="-1" dirty="0">
                <a:solidFill>
                  <a:srgbClr val="595959"/>
                </a:solidFill>
                <a:uFill>
                  <a:solidFill>
                    <a:srgbClr val="FFFFFF"/>
                  </a:solidFill>
                </a:uFill>
                <a:latin typeface="Lato"/>
                <a:ea typeface="Lato"/>
              </a:rPr>
              <a:t>The dataset consists of 17,880 observations and 18 features.</a:t>
            </a:r>
          </a:p>
          <a:p>
            <a:r>
              <a:rPr lang="en-US" b="0" strike="noStrike" spc="-1" dirty="0">
                <a:solidFill>
                  <a:srgbClr val="595959"/>
                </a:solidFill>
                <a:uFill>
                  <a:solidFill>
                    <a:srgbClr val="FFFFFF"/>
                  </a:solidFill>
                </a:uFill>
                <a:latin typeface="Lato"/>
                <a:ea typeface="Lato"/>
              </a:rPr>
              <a:t>Attributes Information:</a:t>
            </a:r>
          </a:p>
          <a:p>
            <a:r>
              <a:rPr lang="en-US" b="0" strike="noStrike" spc="-1" dirty="0" err="1">
                <a:solidFill>
                  <a:srgbClr val="595959"/>
                </a:solidFill>
                <a:uFill>
                  <a:solidFill>
                    <a:srgbClr val="FFFFFF"/>
                  </a:solidFill>
                </a:uFill>
                <a:latin typeface="Lato"/>
                <a:ea typeface="Lato"/>
              </a:rPr>
              <a:t>job_id</a:t>
            </a:r>
            <a:r>
              <a:rPr lang="en-US" b="0" strike="noStrike" spc="-1" dirty="0">
                <a:solidFill>
                  <a:srgbClr val="595959"/>
                </a:solidFill>
                <a:uFill>
                  <a:solidFill>
                    <a:srgbClr val="FFFFFF"/>
                  </a:solidFill>
                </a:uFill>
                <a:latin typeface="Lato"/>
                <a:ea typeface="Lato"/>
              </a:rPr>
              <a:t> </a:t>
            </a:r>
            <a:r>
              <a:rPr lang="en-US" spc="-1" dirty="0">
                <a:solidFill>
                  <a:srgbClr val="595959"/>
                </a:solidFill>
                <a:uFill>
                  <a:solidFill>
                    <a:srgbClr val="FFFFFF"/>
                  </a:solidFill>
                </a:uFill>
                <a:latin typeface="Lato"/>
                <a:ea typeface="Lato"/>
              </a:rPr>
              <a:t>,  title, location ,department ,salary  range, company profile  ,requirements , description, </a:t>
            </a:r>
            <a:r>
              <a:rPr lang="en-US" spc="-1" dirty="0" err="1">
                <a:solidFill>
                  <a:srgbClr val="595959"/>
                </a:solidFill>
                <a:uFill>
                  <a:solidFill>
                    <a:srgbClr val="FFFFFF"/>
                  </a:solidFill>
                </a:uFill>
                <a:latin typeface="Lato"/>
                <a:ea typeface="Lato"/>
              </a:rPr>
              <a:t>required_experience</a:t>
            </a:r>
            <a:r>
              <a:rPr lang="en-US" spc="-1" dirty="0">
                <a:solidFill>
                  <a:srgbClr val="595959"/>
                </a:solidFill>
                <a:uFill>
                  <a:solidFill>
                    <a:srgbClr val="FFFFFF"/>
                  </a:solidFill>
                </a:uFill>
                <a:latin typeface="Lato"/>
                <a:ea typeface="Lato"/>
              </a:rPr>
              <a:t>,  </a:t>
            </a:r>
            <a:r>
              <a:rPr lang="en-US" spc="-1" dirty="0" err="1">
                <a:solidFill>
                  <a:srgbClr val="595959"/>
                </a:solidFill>
                <a:uFill>
                  <a:solidFill>
                    <a:srgbClr val="FFFFFF"/>
                  </a:solidFill>
                </a:uFill>
                <a:latin typeface="Lato"/>
                <a:ea typeface="Lato"/>
              </a:rPr>
              <a:t>required_education</a:t>
            </a:r>
            <a:r>
              <a:rPr lang="en-US" spc="-1" dirty="0">
                <a:solidFill>
                  <a:srgbClr val="595959"/>
                </a:solidFill>
                <a:uFill>
                  <a:solidFill>
                    <a:srgbClr val="FFFFFF"/>
                  </a:solidFill>
                </a:uFill>
                <a:latin typeface="Lato"/>
                <a:ea typeface="Lato"/>
              </a:rPr>
              <a:t>,  industry and function.</a:t>
            </a:r>
            <a:endParaRPr lang="en-US" b="0" strike="noStrike" spc="-1" dirty="0">
              <a:solidFill>
                <a:srgbClr val="595959"/>
              </a:solidFill>
              <a:uFill>
                <a:solidFill>
                  <a:srgbClr val="FFFFFF"/>
                </a:solidFill>
              </a:uFill>
              <a:latin typeface="Lato"/>
              <a:ea typeface="Lato"/>
            </a:endParaRPr>
          </a:p>
          <a:p>
            <a:endParaRPr lang="en-IN" dirty="0"/>
          </a:p>
        </p:txBody>
      </p:sp>
    </p:spTree>
    <p:extLst>
      <p:ext uri="{BB962C8B-B14F-4D97-AF65-F5344CB8AC3E}">
        <p14:creationId xmlns:p14="http://schemas.microsoft.com/office/powerpoint/2010/main" val="1962850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E9BFF-9024-4C6F-9560-941FB7C315F2}"/>
              </a:ext>
            </a:extLst>
          </p:cNvPr>
          <p:cNvSpPr>
            <a:spLocks noGrp="1"/>
          </p:cNvSpPr>
          <p:nvPr>
            <p:ph type="title"/>
          </p:nvPr>
        </p:nvSpPr>
        <p:spPr/>
        <p:txBody>
          <a:bodyPr/>
          <a:lstStyle/>
          <a:p>
            <a:r>
              <a:rPr lang="en-IN" dirty="0"/>
              <a:t>PROPOSED METHODOLOGY</a:t>
            </a:r>
          </a:p>
        </p:txBody>
      </p:sp>
      <p:sp>
        <p:nvSpPr>
          <p:cNvPr id="3" name="Content Placeholder 2">
            <a:extLst>
              <a:ext uri="{FF2B5EF4-FFF2-40B4-BE49-F238E27FC236}">
                <a16:creationId xmlns:a16="http://schemas.microsoft.com/office/drawing/2014/main" id="{3BA657C4-3116-4DCC-953C-BA60E8AA7ABD}"/>
              </a:ext>
            </a:extLst>
          </p:cNvPr>
          <p:cNvSpPr>
            <a:spLocks noGrp="1"/>
          </p:cNvSpPr>
          <p:nvPr>
            <p:ph idx="1"/>
          </p:nvPr>
        </p:nvSpPr>
        <p:spPr/>
        <p:txBody>
          <a:bodyPr>
            <a:normAutofit/>
          </a:bodyPr>
          <a:lstStyle/>
          <a:p>
            <a:pPr marL="0" indent="0">
              <a:buNone/>
            </a:pPr>
            <a:r>
              <a:rPr lang="en-US" dirty="0"/>
              <a:t> </a:t>
            </a:r>
            <a:r>
              <a:rPr lang="en-US" sz="2000" dirty="0"/>
              <a:t>This project follows five stages. The five stages adopted for this project are – </a:t>
            </a:r>
          </a:p>
          <a:p>
            <a:r>
              <a:rPr lang="en-US" sz="2000" dirty="0">
                <a:effectLst/>
                <a:latin typeface="Calibri" panose="020F0502020204030204" pitchFamily="34" charset="0"/>
                <a:ea typeface="Calibri" panose="020F0502020204030204" pitchFamily="34" charset="0"/>
                <a:cs typeface="Times New Roman" panose="02020603050405020304" pitchFamily="18" charset="0"/>
              </a:rPr>
              <a:t>Data Collection </a:t>
            </a:r>
          </a:p>
          <a:p>
            <a:r>
              <a:rPr lang="en-US" sz="2000" dirty="0">
                <a:effectLst/>
                <a:latin typeface="Calibri" panose="020F0502020204030204" pitchFamily="34" charset="0"/>
                <a:ea typeface="Calibri" panose="020F0502020204030204" pitchFamily="34" charset="0"/>
                <a:cs typeface="Times New Roman" panose="02020603050405020304" pitchFamily="18" charset="0"/>
              </a:rPr>
              <a:t>Data cleaning, exploring and pre-processing</a:t>
            </a:r>
          </a:p>
          <a:p>
            <a:r>
              <a:rPr lang="en-US" sz="2000" dirty="0">
                <a:effectLst/>
                <a:latin typeface="Calibri" panose="020F0502020204030204" pitchFamily="34" charset="0"/>
                <a:ea typeface="Calibri" panose="020F0502020204030204" pitchFamily="34" charset="0"/>
                <a:cs typeface="Times New Roman" panose="02020603050405020304" pitchFamily="18" charset="0"/>
              </a:rPr>
              <a:t>Modeling</a:t>
            </a:r>
          </a:p>
          <a:p>
            <a:r>
              <a:rPr lang="en-US" sz="2000" dirty="0">
                <a:effectLst/>
                <a:latin typeface="Calibri" panose="020F0502020204030204" pitchFamily="34" charset="0"/>
                <a:ea typeface="Calibri" panose="020F0502020204030204" pitchFamily="34" charset="0"/>
                <a:cs typeface="Times New Roman" panose="02020603050405020304" pitchFamily="18" charset="0"/>
              </a:rPr>
              <a:t>Evaluating</a:t>
            </a:r>
          </a:p>
          <a:p>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EA36319E-E5BD-4C98-8E06-8CD859BB7CFF}"/>
              </a:ext>
            </a:extLst>
          </p:cNvPr>
          <p:cNvPicPr>
            <a:picLocks noChangeAspect="1"/>
          </p:cNvPicPr>
          <p:nvPr/>
        </p:nvPicPr>
        <p:blipFill>
          <a:blip r:embed="rId2"/>
          <a:stretch>
            <a:fillRect/>
          </a:stretch>
        </p:blipFill>
        <p:spPr>
          <a:xfrm>
            <a:off x="1769205" y="4690777"/>
            <a:ext cx="8340051" cy="2200847"/>
          </a:xfrm>
          <a:prstGeom prst="rect">
            <a:avLst/>
          </a:prstGeom>
        </p:spPr>
      </p:pic>
    </p:spTree>
    <p:extLst>
      <p:ext uri="{BB962C8B-B14F-4D97-AF65-F5344CB8AC3E}">
        <p14:creationId xmlns:p14="http://schemas.microsoft.com/office/powerpoint/2010/main" val="2182863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B7C70B2-A853-4D86-B274-97A7FE989134}"/>
              </a:ext>
            </a:extLst>
          </p:cNvPr>
          <p:cNvSpPr>
            <a:spLocks noGrp="1"/>
          </p:cNvSpPr>
          <p:nvPr>
            <p:ph type="title"/>
          </p:nvPr>
        </p:nvSpPr>
        <p:spPr/>
        <p:txBody>
          <a:bodyPr/>
          <a:lstStyle/>
          <a:p>
            <a:r>
              <a:rPr lang="en-US" dirty="0"/>
              <a:t>DATA ANALYSIS</a:t>
            </a:r>
            <a:endParaRPr lang="en-IN" dirty="0"/>
          </a:p>
        </p:txBody>
      </p:sp>
      <p:sp>
        <p:nvSpPr>
          <p:cNvPr id="6" name="Content Placeholder 5">
            <a:extLst>
              <a:ext uri="{FF2B5EF4-FFF2-40B4-BE49-F238E27FC236}">
                <a16:creationId xmlns:a16="http://schemas.microsoft.com/office/drawing/2014/main" id="{86F2C7A5-A4B7-46C9-BC74-EAF6E8E39D97}"/>
              </a:ext>
            </a:extLst>
          </p:cNvPr>
          <p:cNvSpPr>
            <a:spLocks noGrp="1"/>
          </p:cNvSpPr>
          <p:nvPr>
            <p:ph sz="half" idx="2"/>
          </p:nvPr>
        </p:nvSpPr>
        <p:spPr/>
        <p:txBody>
          <a:bodyPr/>
          <a:lstStyle/>
          <a:p>
            <a:r>
              <a:rPr lang="en-US" b="0" i="0" dirty="0">
                <a:solidFill>
                  <a:srgbClr val="212121"/>
                </a:solidFill>
                <a:effectLst/>
                <a:latin typeface="Roboto" panose="02000000000000000000" pitchFamily="2" charset="0"/>
              </a:rPr>
              <a:t>It looks like most of the job postings were for jobs in US. With the great difference, </a:t>
            </a:r>
            <a:r>
              <a:rPr lang="en-US" b="0" i="0" dirty="0" err="1">
                <a:solidFill>
                  <a:srgbClr val="212121"/>
                </a:solidFill>
                <a:effectLst/>
                <a:latin typeface="Roboto" panose="02000000000000000000" pitchFamily="2" charset="0"/>
              </a:rPr>
              <a:t>GreatBritain</a:t>
            </a:r>
            <a:r>
              <a:rPr lang="en-US" b="0" i="0" dirty="0">
                <a:solidFill>
                  <a:srgbClr val="212121"/>
                </a:solidFill>
                <a:effectLst/>
                <a:latin typeface="Roboto" panose="02000000000000000000" pitchFamily="2" charset="0"/>
              </a:rPr>
              <a:t> has the second highest followed by Greece. As we did above, I would like to see the percentage of </a:t>
            </a:r>
            <a:r>
              <a:rPr lang="en-US" b="0" i="0" dirty="0" err="1">
                <a:solidFill>
                  <a:srgbClr val="212121"/>
                </a:solidFill>
                <a:effectLst/>
                <a:latin typeface="Roboto" panose="02000000000000000000" pitchFamily="2" charset="0"/>
              </a:rPr>
              <a:t>fraudlent</a:t>
            </a:r>
            <a:r>
              <a:rPr lang="en-US" b="0" i="0" dirty="0">
                <a:solidFill>
                  <a:srgbClr val="212121"/>
                </a:solidFill>
                <a:effectLst/>
                <a:latin typeface="Roboto" panose="02000000000000000000" pitchFamily="2" charset="0"/>
              </a:rPr>
              <a:t> job postings for these countries.</a:t>
            </a:r>
            <a:endParaRPr lang="en-IN" dirty="0"/>
          </a:p>
        </p:txBody>
      </p:sp>
      <p:pic>
        <p:nvPicPr>
          <p:cNvPr id="9" name="Content Placeholder 8">
            <a:extLst>
              <a:ext uri="{FF2B5EF4-FFF2-40B4-BE49-F238E27FC236}">
                <a16:creationId xmlns:a16="http://schemas.microsoft.com/office/drawing/2014/main" id="{359D4B57-A108-405B-9BBA-5846877553A0}"/>
              </a:ext>
            </a:extLst>
          </p:cNvPr>
          <p:cNvPicPr>
            <a:picLocks noGrp="1" noChangeAspect="1"/>
          </p:cNvPicPr>
          <p:nvPr>
            <p:ph sz="half" idx="1"/>
          </p:nvPr>
        </p:nvPicPr>
        <p:blipFill>
          <a:blip r:embed="rId2"/>
          <a:stretch>
            <a:fillRect/>
          </a:stretch>
        </p:blipFill>
        <p:spPr>
          <a:xfrm>
            <a:off x="859631" y="2777331"/>
            <a:ext cx="3819525" cy="2647950"/>
          </a:xfrm>
          <a:prstGeom prst="rect">
            <a:avLst/>
          </a:prstGeom>
        </p:spPr>
      </p:pic>
    </p:spTree>
    <p:extLst>
      <p:ext uri="{BB962C8B-B14F-4D97-AF65-F5344CB8AC3E}">
        <p14:creationId xmlns:p14="http://schemas.microsoft.com/office/powerpoint/2010/main" val="2641990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1DA29BA-312C-4C64-9720-29C0DFAB9F2A}"/>
              </a:ext>
            </a:extLst>
          </p:cNvPr>
          <p:cNvSpPr>
            <a:spLocks noGrp="1"/>
          </p:cNvSpPr>
          <p:nvPr>
            <p:ph sz="half" idx="2"/>
          </p:nvPr>
        </p:nvSpPr>
        <p:spPr/>
        <p:txBody>
          <a:bodyPr/>
          <a:lstStyle/>
          <a:p>
            <a:pPr algn="l"/>
            <a:r>
              <a:rPr lang="en-US" b="0" i="0" dirty="0">
                <a:solidFill>
                  <a:srgbClr val="212121"/>
                </a:solidFill>
                <a:effectLst/>
                <a:latin typeface="Roboto" panose="02000000000000000000" pitchFamily="2" charset="0"/>
              </a:rPr>
              <a:t>We can clearly observe that there are more number of fraudulent job posting with the experience as 'Not Applicable', this could be because we have more number of jobs in 'Not Applicable' category.</a:t>
            </a:r>
          </a:p>
          <a:p>
            <a:pPr algn="l"/>
            <a:r>
              <a:rPr lang="en-US" b="0" i="0" dirty="0">
                <a:solidFill>
                  <a:srgbClr val="212121"/>
                </a:solidFill>
                <a:effectLst/>
                <a:latin typeface="Roboto" panose="02000000000000000000" pitchFamily="2" charset="0"/>
              </a:rPr>
              <a:t>Interestingly, '</a:t>
            </a:r>
            <a:r>
              <a:rPr lang="en-US" b="0" i="0" dirty="0" err="1">
                <a:solidFill>
                  <a:srgbClr val="212121"/>
                </a:solidFill>
                <a:effectLst/>
                <a:latin typeface="Roboto" panose="02000000000000000000" pitchFamily="2" charset="0"/>
              </a:rPr>
              <a:t>Entry_level</a:t>
            </a:r>
            <a:r>
              <a:rPr lang="en-US" b="0" i="0" dirty="0">
                <a:solidFill>
                  <a:srgbClr val="212121"/>
                </a:solidFill>
                <a:effectLst/>
                <a:latin typeface="Roboto" panose="02000000000000000000" pitchFamily="2" charset="0"/>
              </a:rPr>
              <a:t>' category has more fraudulent posting though it is 3rd highest by the number of job posting.</a:t>
            </a:r>
          </a:p>
          <a:p>
            <a:endParaRPr lang="en-IN" dirty="0"/>
          </a:p>
        </p:txBody>
      </p:sp>
      <p:pic>
        <p:nvPicPr>
          <p:cNvPr id="6" name="Content Placeholder 5">
            <a:extLst>
              <a:ext uri="{FF2B5EF4-FFF2-40B4-BE49-F238E27FC236}">
                <a16:creationId xmlns:a16="http://schemas.microsoft.com/office/drawing/2014/main" id="{1813C4B2-A4E2-4D3E-A655-11CFB5FF1FE6}"/>
              </a:ext>
            </a:extLst>
          </p:cNvPr>
          <p:cNvPicPr>
            <a:picLocks noGrp="1" noChangeAspect="1"/>
          </p:cNvPicPr>
          <p:nvPr>
            <p:ph sz="half" idx="1"/>
          </p:nvPr>
        </p:nvPicPr>
        <p:blipFill>
          <a:blip r:embed="rId2"/>
          <a:stretch>
            <a:fillRect/>
          </a:stretch>
        </p:blipFill>
        <p:spPr>
          <a:xfrm>
            <a:off x="864394" y="2439194"/>
            <a:ext cx="3810000" cy="3324225"/>
          </a:xfrm>
          <a:prstGeom prst="rect">
            <a:avLst/>
          </a:prstGeom>
        </p:spPr>
      </p:pic>
    </p:spTree>
    <p:extLst>
      <p:ext uri="{BB962C8B-B14F-4D97-AF65-F5344CB8AC3E}">
        <p14:creationId xmlns:p14="http://schemas.microsoft.com/office/powerpoint/2010/main" val="2708825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E0D4E73-08F3-4A4D-8DFB-103FB89AAF75}"/>
              </a:ext>
            </a:extLst>
          </p:cNvPr>
          <p:cNvSpPr>
            <a:spLocks noGrp="1"/>
          </p:cNvSpPr>
          <p:nvPr>
            <p:ph sz="half" idx="2"/>
          </p:nvPr>
        </p:nvSpPr>
        <p:spPr/>
        <p:txBody>
          <a:bodyPr/>
          <a:lstStyle/>
          <a:p>
            <a:r>
              <a:rPr lang="en-US" b="0" i="0" dirty="0">
                <a:solidFill>
                  <a:srgbClr val="212121"/>
                </a:solidFill>
                <a:effectLst/>
                <a:latin typeface="Roboto" panose="02000000000000000000" pitchFamily="2" charset="0"/>
              </a:rPr>
              <a:t>We can see that 'Full-time' jobs has the highest number of fraudulent job postings and the 'Temporary' jobs had the least number of fraudulent job postings.</a:t>
            </a:r>
            <a:endParaRPr lang="en-IN" dirty="0"/>
          </a:p>
        </p:txBody>
      </p:sp>
      <p:pic>
        <p:nvPicPr>
          <p:cNvPr id="6" name="Content Placeholder 5">
            <a:extLst>
              <a:ext uri="{FF2B5EF4-FFF2-40B4-BE49-F238E27FC236}">
                <a16:creationId xmlns:a16="http://schemas.microsoft.com/office/drawing/2014/main" id="{189ADD0D-9439-417F-9AEF-5682B379C479}"/>
              </a:ext>
            </a:extLst>
          </p:cNvPr>
          <p:cNvPicPr>
            <a:picLocks noGrp="1" noChangeAspect="1"/>
          </p:cNvPicPr>
          <p:nvPr>
            <p:ph sz="half" idx="1"/>
          </p:nvPr>
        </p:nvPicPr>
        <p:blipFill>
          <a:blip r:embed="rId2"/>
          <a:stretch>
            <a:fillRect/>
          </a:stretch>
        </p:blipFill>
        <p:spPr>
          <a:xfrm>
            <a:off x="840581" y="2563019"/>
            <a:ext cx="3857625" cy="3076575"/>
          </a:xfrm>
          <a:prstGeom prst="rect">
            <a:avLst/>
          </a:prstGeom>
        </p:spPr>
      </p:pic>
    </p:spTree>
    <p:extLst>
      <p:ext uri="{BB962C8B-B14F-4D97-AF65-F5344CB8AC3E}">
        <p14:creationId xmlns:p14="http://schemas.microsoft.com/office/powerpoint/2010/main" val="381507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89D5F3C-96D5-4BFA-B1F4-31F15AC62850}"/>
              </a:ext>
            </a:extLst>
          </p:cNvPr>
          <p:cNvPicPr>
            <a:picLocks noGrp="1" noChangeAspect="1"/>
          </p:cNvPicPr>
          <p:nvPr>
            <p:ph sz="half" idx="1"/>
          </p:nvPr>
        </p:nvPicPr>
        <p:blipFill>
          <a:blip r:embed="rId2"/>
          <a:stretch>
            <a:fillRect/>
          </a:stretch>
        </p:blipFill>
        <p:spPr>
          <a:xfrm>
            <a:off x="1126593" y="2160588"/>
            <a:ext cx="3285602" cy="3881437"/>
          </a:xfrm>
          <a:prstGeom prst="rect">
            <a:avLst/>
          </a:prstGeom>
        </p:spPr>
      </p:pic>
      <p:sp>
        <p:nvSpPr>
          <p:cNvPr id="4" name="Content Placeholder 3">
            <a:extLst>
              <a:ext uri="{FF2B5EF4-FFF2-40B4-BE49-F238E27FC236}">
                <a16:creationId xmlns:a16="http://schemas.microsoft.com/office/drawing/2014/main" id="{CA86833A-668F-4053-AC95-53C0B3326488}"/>
              </a:ext>
            </a:extLst>
          </p:cNvPr>
          <p:cNvSpPr>
            <a:spLocks noGrp="1"/>
          </p:cNvSpPr>
          <p:nvPr>
            <p:ph sz="half" idx="2"/>
          </p:nvPr>
        </p:nvSpPr>
        <p:spPr/>
        <p:txBody>
          <a:bodyPr/>
          <a:lstStyle/>
          <a:p>
            <a:r>
              <a:rPr lang="en-US" b="0" i="0" dirty="0">
                <a:solidFill>
                  <a:srgbClr val="212121"/>
                </a:solidFill>
                <a:effectLst/>
                <a:latin typeface="Roboto" panose="02000000000000000000" pitchFamily="2" charset="0"/>
              </a:rPr>
              <a:t>Though there are small percentage fraudulent in each category, we see that the percentage of fraudulent jobs are very high in the 'some high school coursework' category. It looks like the scammers are targeting the lower education level , as the role for lower education level could be more generic and hence its easy to define such roles.</a:t>
            </a:r>
            <a:endParaRPr lang="en-IN" dirty="0"/>
          </a:p>
        </p:txBody>
      </p:sp>
    </p:spTree>
    <p:extLst>
      <p:ext uri="{BB962C8B-B14F-4D97-AF65-F5344CB8AC3E}">
        <p14:creationId xmlns:p14="http://schemas.microsoft.com/office/powerpoint/2010/main" val="3236029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956DF-C18C-4025-B684-E28FFD9BEA92}"/>
              </a:ext>
            </a:extLst>
          </p:cNvPr>
          <p:cNvSpPr>
            <a:spLocks noGrp="1"/>
          </p:cNvSpPr>
          <p:nvPr>
            <p:ph type="title"/>
          </p:nvPr>
        </p:nvSpPr>
        <p:spPr/>
        <p:txBody>
          <a:bodyPr/>
          <a:lstStyle/>
          <a:p>
            <a:r>
              <a:rPr lang="en-US" dirty="0"/>
              <a:t>Data Preprocessing</a:t>
            </a:r>
            <a:endParaRPr lang="en-IN" dirty="0"/>
          </a:p>
        </p:txBody>
      </p:sp>
      <p:sp>
        <p:nvSpPr>
          <p:cNvPr id="3" name="Content Placeholder 2">
            <a:extLst>
              <a:ext uri="{FF2B5EF4-FFF2-40B4-BE49-F238E27FC236}">
                <a16:creationId xmlns:a16="http://schemas.microsoft.com/office/drawing/2014/main" id="{4B7788CE-4B6A-401D-B98A-A91809617FBC}"/>
              </a:ext>
            </a:extLst>
          </p:cNvPr>
          <p:cNvSpPr>
            <a:spLocks noGrp="1"/>
          </p:cNvSpPr>
          <p:nvPr>
            <p:ph idx="1"/>
          </p:nvPr>
        </p:nvSpPr>
        <p:spPr/>
        <p:txBody>
          <a:bodyPr>
            <a:normAutofit/>
          </a:bodyPr>
          <a:lstStyle/>
          <a:p>
            <a:r>
              <a:rPr lang="en-US" sz="2000" dirty="0"/>
              <a:t>The following steps are taken for text processing:</a:t>
            </a:r>
          </a:p>
          <a:p>
            <a:r>
              <a:rPr lang="en-IN" sz="2000" dirty="0"/>
              <a:t>Tokenization: </a:t>
            </a:r>
            <a:r>
              <a:rPr lang="en-US" sz="2000" dirty="0"/>
              <a:t>The textual data is split into smaller units. In this case the data is split into words.</a:t>
            </a:r>
          </a:p>
          <a:p>
            <a:r>
              <a:rPr lang="en-US" sz="2000" dirty="0"/>
              <a:t>To Lower: The split words are converted to lowercase.</a:t>
            </a:r>
          </a:p>
          <a:p>
            <a:r>
              <a:rPr lang="en-US" sz="2000" dirty="0" err="1"/>
              <a:t>Stopword</a:t>
            </a:r>
            <a:r>
              <a:rPr lang="en-US" sz="2000" dirty="0"/>
              <a:t> Removal: </a:t>
            </a:r>
            <a:r>
              <a:rPr lang="en-US" sz="2000" dirty="0" err="1"/>
              <a:t>Stopwords</a:t>
            </a:r>
            <a:r>
              <a:rPr lang="en-US" sz="2000" dirty="0"/>
              <a:t> are words that do not add much meaning to sentences. For example: the, a, an, he, have etc. These words are removed.</a:t>
            </a:r>
          </a:p>
          <a:p>
            <a:r>
              <a:rPr lang="en-US" sz="2000" dirty="0"/>
              <a:t>Lemmatization: The process of lemmatization groups in which inflected forms of words are used together.</a:t>
            </a:r>
            <a:endParaRPr lang="en-IN" sz="2000" dirty="0"/>
          </a:p>
        </p:txBody>
      </p:sp>
    </p:spTree>
    <p:extLst>
      <p:ext uri="{BB962C8B-B14F-4D97-AF65-F5344CB8AC3E}">
        <p14:creationId xmlns:p14="http://schemas.microsoft.com/office/powerpoint/2010/main" val="939504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C4C6D-D25B-461F-9D5A-C7E5DE3ABE4F}"/>
              </a:ext>
            </a:extLst>
          </p:cNvPr>
          <p:cNvSpPr>
            <a:spLocks noGrp="1"/>
          </p:cNvSpPr>
          <p:nvPr>
            <p:ph type="title"/>
          </p:nvPr>
        </p:nvSpPr>
        <p:spPr/>
        <p:txBody>
          <a:bodyPr/>
          <a:lstStyle/>
          <a:p>
            <a:r>
              <a:rPr lang="en-IN" dirty="0"/>
              <a:t>Performance Evaluation Metrics</a:t>
            </a:r>
          </a:p>
        </p:txBody>
      </p:sp>
      <mc:AlternateContent xmlns:mc="http://schemas.openxmlformats.org/markup-compatibility/2006" xmlns:a14="http://schemas.microsoft.com/office/drawing/2010/main">
        <mc:Choice Requires="a14">
          <p:sp>
            <p:nvSpPr>
              <p:cNvPr id="14" name="Content Placeholder 13">
                <a:extLst>
                  <a:ext uri="{FF2B5EF4-FFF2-40B4-BE49-F238E27FC236}">
                    <a16:creationId xmlns:a16="http://schemas.microsoft.com/office/drawing/2014/main" id="{40445CF8-3D73-43F2-9C17-2E60223CD2EC}"/>
                  </a:ext>
                </a:extLst>
              </p:cNvPr>
              <p:cNvSpPr>
                <a:spLocks noGrp="1"/>
              </p:cNvSpPr>
              <p:nvPr>
                <p:ph idx="1"/>
              </p:nvPr>
            </p:nvSpPr>
            <p:spPr/>
            <p:txBody>
              <a:bodyPr>
                <a:normAutofit/>
              </a:bodyPr>
              <a:lstStyle/>
              <a:p>
                <a:r>
                  <a:rPr lang="en-US" sz="2000" dirty="0"/>
                  <a:t>Accuracy: </a:t>
                </a:r>
                <a14:m>
                  <m:oMath xmlns:m="http://schemas.openxmlformats.org/officeDocument/2006/math">
                    <m:r>
                      <a:rPr lang="en-US" sz="2000" i="1" smtClean="0">
                        <a:effectLst/>
                        <a:latin typeface="Cambria Math" panose="02040503050406030204" pitchFamily="18" charset="0"/>
                        <a:ea typeface="Calibri" panose="020F0502020204030204" pitchFamily="34" charset="0"/>
                        <a:cs typeface="Times New Roman" panose="02020603050405020304" pitchFamily="18" charset="0"/>
                      </a:rPr>
                      <m:t>𝐴𝑐𝑐𝑢𝑟𝑎𝑐𝑦</m:t>
                    </m:r>
                    <m:r>
                      <a:rPr lang="en-US" sz="2000" i="1"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IN"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𝑇𝑟𝑢𝑒</m:t>
                        </m:r>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𝑃𝑜𝑠𝑖𝑡𝑖𝑣𝑒</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𝑇𝑟𝑢𝑒</m:t>
                        </m:r>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𝑁𝑒𝑔𝑎𝑡𝑖𝑣𝑒</m:t>
                        </m:r>
                      </m:num>
                      <m:den>
                        <m:r>
                          <a:rPr lang="en-US" sz="2000" i="1">
                            <a:effectLst/>
                            <a:latin typeface="Cambria Math" panose="02040503050406030204" pitchFamily="18" charset="0"/>
                            <a:ea typeface="Calibri" panose="020F0502020204030204" pitchFamily="34" charset="0"/>
                            <a:cs typeface="Times New Roman" panose="02020603050405020304" pitchFamily="18" charset="0"/>
                          </a:rPr>
                          <m:t>𝑇𝑟𝑢𝑒</m:t>
                        </m:r>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𝑃𝑜𝑠𝑖𝑡𝑖𝑣𝑒</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a:rPr lang="en-US" sz="2000" i="1">
                            <a:effectLst/>
                            <a:latin typeface="Cambria Math" panose="02040503050406030204" pitchFamily="18" charset="0"/>
                            <a:ea typeface="Calibri" panose="020F0502020204030204" pitchFamily="34" charset="0"/>
                            <a:cs typeface="Times New Roman" panose="02020603050405020304" pitchFamily="18" charset="0"/>
                          </a:rPr>
                          <m:t>𝐹𝑎𝑙𝑠𝑒</m:t>
                        </m:r>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𝑃𝑜𝑠𝑖𝑡𝑖𝑣𝑒</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a:rPr lang="en-US" sz="2000" i="1">
                            <a:effectLst/>
                            <a:latin typeface="Cambria Math" panose="02040503050406030204" pitchFamily="18" charset="0"/>
                            <a:ea typeface="Calibri" panose="020F0502020204030204" pitchFamily="34" charset="0"/>
                            <a:cs typeface="Times New Roman" panose="02020603050405020304" pitchFamily="18" charset="0"/>
                          </a:rPr>
                          <m:t>𝐹𝑎𝑙𝑠𝑒</m:t>
                        </m:r>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𝑁𝑒𝑔𝑎𝑡𝑖𝑣𝑒</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𝑇𝑟𝑢𝑒</m:t>
                        </m:r>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𝑁𝑒𝑔𝑎𝑡𝑖𝑣𝑒</m:t>
                        </m:r>
                      </m:den>
                    </m:f>
                  </m:oMath>
                </a14:m>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2000" dirty="0"/>
                  <a:t>F1-Score: </a:t>
                </a:r>
                <a14:m>
                  <m:oMath xmlns:m="http://schemas.openxmlformats.org/officeDocument/2006/math">
                    <m:sSub>
                      <m:sSubPr>
                        <m:ctrlPr>
                          <a:rPr lang="en-IN" sz="200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𝐹</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IN"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𝑇𝑟𝑢𝑒</m:t>
                        </m:r>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𝑃𝑜𝑠𝑖𝑡𝑖𝑣𝑒</m:t>
                        </m:r>
                      </m:num>
                      <m:den>
                        <m:r>
                          <a:rPr lang="en-US" sz="2000" i="1">
                            <a:effectLst/>
                            <a:latin typeface="Cambria Math" panose="02040503050406030204" pitchFamily="18" charset="0"/>
                            <a:ea typeface="Calibri" panose="020F0502020204030204" pitchFamily="34" charset="0"/>
                            <a:cs typeface="Times New Roman" panose="02020603050405020304" pitchFamily="18" charset="0"/>
                          </a:rPr>
                          <m:t>𝑇𝑟𝑢𝑒</m:t>
                        </m:r>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𝑃𝑜𝑠𝑖𝑡𝑖𝑣𝑒</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IN"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den>
                        </m:f>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a:rPr lang="en-US" sz="2000" i="1">
                            <a:effectLst/>
                            <a:latin typeface="Cambria Math" panose="02040503050406030204" pitchFamily="18" charset="0"/>
                            <a:ea typeface="Calibri" panose="020F0502020204030204" pitchFamily="34" charset="0"/>
                            <a:cs typeface="Times New Roman" panose="02020603050405020304" pitchFamily="18" charset="0"/>
                          </a:rPr>
                          <m:t>𝐹𝑎𝑙𝑠𝑒</m:t>
                        </m:r>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𝑃𝑜𝑠𝑖𝑡𝑖𝑣𝑒</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a:rPr lang="en-US" sz="2000" i="1">
                            <a:effectLst/>
                            <a:latin typeface="Cambria Math" panose="02040503050406030204" pitchFamily="18" charset="0"/>
                            <a:ea typeface="Calibri" panose="020F0502020204030204" pitchFamily="34" charset="0"/>
                            <a:cs typeface="Times New Roman" panose="02020603050405020304" pitchFamily="18" charset="0"/>
                          </a:rPr>
                          <m:t>𝐹𝑎𝑙𝑠𝑒</m:t>
                        </m:r>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𝑁𝑒𝑔𝑎𝑡𝑖𝑣𝑒</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den>
                    </m:f>
                  </m:oMath>
                </a14:m>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2000" dirty="0"/>
                  <a:t>Precision: </a:t>
                </a:r>
                <a:r>
                  <a:rPr lang="en-US" sz="2000" dirty="0"/>
                  <a:t>Identifies the ratio of correct positive results over the number of positive results predicted by the classifier.</a:t>
                </a:r>
              </a:p>
              <a:p>
                <a:r>
                  <a:rPr lang="en-US" sz="2000" dirty="0"/>
                  <a:t>Recall: It denotes number of correct positive results divided by the number of all relevant samples. </a:t>
                </a:r>
                <a:endParaRPr lang="en-IN" sz="2000" dirty="0"/>
              </a:p>
            </p:txBody>
          </p:sp>
        </mc:Choice>
        <mc:Fallback xmlns="">
          <p:sp>
            <p:nvSpPr>
              <p:cNvPr id="14" name="Content Placeholder 13">
                <a:extLst>
                  <a:ext uri="{FF2B5EF4-FFF2-40B4-BE49-F238E27FC236}">
                    <a16:creationId xmlns:a16="http://schemas.microsoft.com/office/drawing/2014/main" id="{40445CF8-3D73-43F2-9C17-2E60223CD2EC}"/>
                  </a:ext>
                </a:extLst>
              </p:cNvPr>
              <p:cNvSpPr>
                <a:spLocks noGrp="1" noRot="1" noChangeAspect="1" noMove="1" noResize="1" noEditPoints="1" noAdjustHandles="1" noChangeArrowheads="1" noChangeShapeType="1" noTextEdit="1"/>
              </p:cNvSpPr>
              <p:nvPr>
                <p:ph idx="1"/>
              </p:nvPr>
            </p:nvSpPr>
            <p:spPr>
              <a:blipFill>
                <a:blip r:embed="rId2"/>
                <a:stretch>
                  <a:fillRect l="-862"/>
                </a:stretch>
              </a:blipFill>
            </p:spPr>
            <p:txBody>
              <a:bodyPr/>
              <a:lstStyle/>
              <a:p>
                <a:r>
                  <a:rPr lang="en-IN">
                    <a:noFill/>
                  </a:rPr>
                  <a:t> </a:t>
                </a:r>
              </a:p>
            </p:txBody>
          </p:sp>
        </mc:Fallback>
      </mc:AlternateContent>
    </p:spTree>
    <p:extLst>
      <p:ext uri="{BB962C8B-B14F-4D97-AF65-F5344CB8AC3E}">
        <p14:creationId xmlns:p14="http://schemas.microsoft.com/office/powerpoint/2010/main" val="1308103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7ED78-1356-479F-B377-CDB297CE041C}"/>
              </a:ext>
            </a:extLst>
          </p:cNvPr>
          <p:cNvSpPr>
            <a:spLocks noGrp="1"/>
          </p:cNvSpPr>
          <p:nvPr>
            <p:ph type="title"/>
          </p:nvPr>
        </p:nvSpPr>
        <p:spPr/>
        <p:txBody>
          <a:bodyPr/>
          <a:lstStyle/>
          <a:p>
            <a:r>
              <a:rPr lang="en-US" dirty="0"/>
              <a:t>Evaluation and Comparison of Machine Learning and Deep Learning Models</a:t>
            </a:r>
            <a:endParaRPr lang="en-IN" dirty="0"/>
          </a:p>
        </p:txBody>
      </p:sp>
      <p:sp>
        <p:nvSpPr>
          <p:cNvPr id="3" name="Content Placeholder 2">
            <a:extLst>
              <a:ext uri="{FF2B5EF4-FFF2-40B4-BE49-F238E27FC236}">
                <a16:creationId xmlns:a16="http://schemas.microsoft.com/office/drawing/2014/main" id="{FA229C09-1103-425F-B67A-CCA1E7E603E8}"/>
              </a:ext>
            </a:extLst>
          </p:cNvPr>
          <p:cNvSpPr>
            <a:spLocks noGrp="1"/>
          </p:cNvSpPr>
          <p:nvPr>
            <p:ph idx="1"/>
          </p:nvPr>
        </p:nvSpPr>
        <p:spPr/>
        <p:txBody>
          <a:bodyPr/>
          <a:lstStyle/>
          <a:p>
            <a:r>
              <a:rPr lang="en-US" dirty="0"/>
              <a:t>Various types machine learning algorithms, neural network ,</a:t>
            </a:r>
            <a:r>
              <a:rPr lang="en-US" dirty="0" err="1"/>
              <a:t>bert</a:t>
            </a:r>
            <a:r>
              <a:rPr lang="en-US" dirty="0"/>
              <a:t> are used in this project. Once the algorithm applied on dataset we can evaluate the performance of models and using this results we can identify fake or real jobs.</a:t>
            </a:r>
          </a:p>
          <a:p>
            <a:endParaRPr lang="en-US" dirty="0"/>
          </a:p>
        </p:txBody>
      </p:sp>
    </p:spTree>
    <p:extLst>
      <p:ext uri="{BB962C8B-B14F-4D97-AF65-F5344CB8AC3E}">
        <p14:creationId xmlns:p14="http://schemas.microsoft.com/office/powerpoint/2010/main" val="1457752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10">
            <a:extLst>
              <a:ext uri="{FF2B5EF4-FFF2-40B4-BE49-F238E27FC236}">
                <a16:creationId xmlns:a16="http://schemas.microsoft.com/office/drawing/2014/main" id="{644B797D-9A6D-4DBD-A78C-77BE78294D1D}"/>
              </a:ext>
            </a:extLst>
          </p:cNvPr>
          <p:cNvGraphicFramePr>
            <a:graphicFrameLocks noGrp="1"/>
          </p:cNvGraphicFramePr>
          <p:nvPr>
            <p:ph idx="1"/>
            <p:extLst>
              <p:ext uri="{D42A27DB-BD31-4B8C-83A1-F6EECF244321}">
                <p14:modId xmlns:p14="http://schemas.microsoft.com/office/powerpoint/2010/main" val="26750309"/>
              </p:ext>
            </p:extLst>
          </p:nvPr>
        </p:nvGraphicFramePr>
        <p:xfrm>
          <a:off x="314632" y="1563329"/>
          <a:ext cx="8959545" cy="5443580"/>
        </p:xfrm>
        <a:graphic>
          <a:graphicData uri="http://schemas.openxmlformats.org/drawingml/2006/table">
            <a:tbl>
              <a:tblPr firstRow="1" bandRow="1">
                <a:tableStyleId>{7DF18680-E054-41AD-8BC1-D1AEF772440D}</a:tableStyleId>
              </a:tblPr>
              <a:tblGrid>
                <a:gridCol w="995505">
                  <a:extLst>
                    <a:ext uri="{9D8B030D-6E8A-4147-A177-3AD203B41FA5}">
                      <a16:colId xmlns:a16="http://schemas.microsoft.com/office/drawing/2014/main" val="510014765"/>
                    </a:ext>
                  </a:extLst>
                </a:gridCol>
                <a:gridCol w="995505">
                  <a:extLst>
                    <a:ext uri="{9D8B030D-6E8A-4147-A177-3AD203B41FA5}">
                      <a16:colId xmlns:a16="http://schemas.microsoft.com/office/drawing/2014/main" val="1871523156"/>
                    </a:ext>
                  </a:extLst>
                </a:gridCol>
                <a:gridCol w="995505">
                  <a:extLst>
                    <a:ext uri="{9D8B030D-6E8A-4147-A177-3AD203B41FA5}">
                      <a16:colId xmlns:a16="http://schemas.microsoft.com/office/drawing/2014/main" val="1314340379"/>
                    </a:ext>
                  </a:extLst>
                </a:gridCol>
                <a:gridCol w="995505">
                  <a:extLst>
                    <a:ext uri="{9D8B030D-6E8A-4147-A177-3AD203B41FA5}">
                      <a16:colId xmlns:a16="http://schemas.microsoft.com/office/drawing/2014/main" val="3112632420"/>
                    </a:ext>
                  </a:extLst>
                </a:gridCol>
                <a:gridCol w="995505">
                  <a:extLst>
                    <a:ext uri="{9D8B030D-6E8A-4147-A177-3AD203B41FA5}">
                      <a16:colId xmlns:a16="http://schemas.microsoft.com/office/drawing/2014/main" val="3234477620"/>
                    </a:ext>
                  </a:extLst>
                </a:gridCol>
                <a:gridCol w="995505">
                  <a:extLst>
                    <a:ext uri="{9D8B030D-6E8A-4147-A177-3AD203B41FA5}">
                      <a16:colId xmlns:a16="http://schemas.microsoft.com/office/drawing/2014/main" val="1376200615"/>
                    </a:ext>
                  </a:extLst>
                </a:gridCol>
                <a:gridCol w="995505">
                  <a:extLst>
                    <a:ext uri="{9D8B030D-6E8A-4147-A177-3AD203B41FA5}">
                      <a16:colId xmlns:a16="http://schemas.microsoft.com/office/drawing/2014/main" val="3470959983"/>
                    </a:ext>
                  </a:extLst>
                </a:gridCol>
                <a:gridCol w="995505">
                  <a:extLst>
                    <a:ext uri="{9D8B030D-6E8A-4147-A177-3AD203B41FA5}">
                      <a16:colId xmlns:a16="http://schemas.microsoft.com/office/drawing/2014/main" val="3438639631"/>
                    </a:ext>
                  </a:extLst>
                </a:gridCol>
                <a:gridCol w="995505">
                  <a:extLst>
                    <a:ext uri="{9D8B030D-6E8A-4147-A177-3AD203B41FA5}">
                      <a16:colId xmlns:a16="http://schemas.microsoft.com/office/drawing/2014/main" val="1523914823"/>
                    </a:ext>
                  </a:extLst>
                </a:gridCol>
              </a:tblGrid>
              <a:tr h="1335218">
                <a:tc>
                  <a:txBody>
                    <a:bodyPr/>
                    <a:lstStyle/>
                    <a:p>
                      <a:r>
                        <a:rPr lang="en-US" dirty="0"/>
                        <a:t>Performance Metrics</a:t>
                      </a:r>
                      <a:endParaRPr lang="en-IN" dirty="0"/>
                    </a:p>
                  </a:txBody>
                  <a:tcPr marL="74751" marR="74751"/>
                </a:tc>
                <a:tc>
                  <a:txBody>
                    <a:bodyPr/>
                    <a:lstStyle/>
                    <a:p>
                      <a:r>
                        <a:rPr lang="en-US" dirty="0"/>
                        <a:t>Logistic Regression</a:t>
                      </a:r>
                      <a:endParaRPr lang="en-IN" dirty="0"/>
                    </a:p>
                  </a:txBody>
                  <a:tcPr marL="74751" marR="74751"/>
                </a:tc>
                <a:tc>
                  <a:txBody>
                    <a:bodyPr/>
                    <a:lstStyle/>
                    <a:p>
                      <a:r>
                        <a:rPr lang="en-US" dirty="0"/>
                        <a:t>Random Forest</a:t>
                      </a:r>
                      <a:endParaRPr lang="en-IN" dirty="0"/>
                    </a:p>
                  </a:txBody>
                  <a:tcPr marL="74751" marR="74751"/>
                </a:tc>
                <a:tc>
                  <a:txBody>
                    <a:bodyPr/>
                    <a:lstStyle/>
                    <a:p>
                      <a:r>
                        <a:rPr lang="en-US" dirty="0"/>
                        <a:t>Naïve Bayes</a:t>
                      </a:r>
                      <a:endParaRPr lang="en-IN" dirty="0"/>
                    </a:p>
                  </a:txBody>
                  <a:tcPr marL="74751" marR="74751"/>
                </a:tc>
                <a:tc>
                  <a:txBody>
                    <a:bodyPr/>
                    <a:lstStyle/>
                    <a:p>
                      <a:r>
                        <a:rPr lang="en-US" dirty="0"/>
                        <a:t>LSTM</a:t>
                      </a:r>
                      <a:endParaRPr lang="en-IN" dirty="0"/>
                    </a:p>
                  </a:txBody>
                  <a:tcPr marL="74751" marR="74751"/>
                </a:tc>
                <a:tc>
                  <a:txBody>
                    <a:bodyPr/>
                    <a:lstStyle/>
                    <a:p>
                      <a:r>
                        <a:rPr lang="en-US" dirty="0"/>
                        <a:t>SVM</a:t>
                      </a:r>
                      <a:endParaRPr lang="en-IN" dirty="0"/>
                    </a:p>
                  </a:txBody>
                  <a:tcPr marL="74751" marR="74751"/>
                </a:tc>
                <a:tc>
                  <a:txBody>
                    <a:bodyPr/>
                    <a:lstStyle/>
                    <a:p>
                      <a:r>
                        <a:rPr lang="en-US" dirty="0"/>
                        <a:t>Decision Tree</a:t>
                      </a:r>
                      <a:endParaRPr lang="en-IN" dirty="0"/>
                    </a:p>
                  </a:txBody>
                  <a:tcPr marL="74751" marR="74751"/>
                </a:tc>
                <a:tc>
                  <a:txBody>
                    <a:bodyPr/>
                    <a:lstStyle/>
                    <a:p>
                      <a:r>
                        <a:rPr lang="en-US" dirty="0"/>
                        <a:t>CNN</a:t>
                      </a:r>
                      <a:endParaRPr lang="en-IN" dirty="0"/>
                    </a:p>
                  </a:txBody>
                  <a:tcPr marL="74751" marR="74751"/>
                </a:tc>
                <a:tc>
                  <a:txBody>
                    <a:bodyPr/>
                    <a:lstStyle/>
                    <a:p>
                      <a:r>
                        <a:rPr lang="en-US" dirty="0"/>
                        <a:t>BERT</a:t>
                      </a:r>
                      <a:endParaRPr lang="en-IN" dirty="0"/>
                    </a:p>
                  </a:txBody>
                  <a:tcPr marL="74751" marR="74751"/>
                </a:tc>
                <a:extLst>
                  <a:ext uri="{0D108BD9-81ED-4DB2-BD59-A6C34878D82A}">
                    <a16:rowId xmlns:a16="http://schemas.microsoft.com/office/drawing/2014/main" val="4093744896"/>
                  </a:ext>
                </a:extLst>
              </a:tr>
              <a:tr h="1027090">
                <a:tc>
                  <a:txBody>
                    <a:bodyPr/>
                    <a:lstStyle/>
                    <a:p>
                      <a:r>
                        <a:rPr lang="en-US" dirty="0"/>
                        <a:t>Precision (0 and 1)</a:t>
                      </a:r>
                      <a:endParaRPr lang="en-IN" dirty="0"/>
                    </a:p>
                  </a:txBody>
                  <a:tcPr marL="74751" marR="74751"/>
                </a:tc>
                <a:tc>
                  <a:txBody>
                    <a:bodyPr/>
                    <a:lstStyle/>
                    <a:p>
                      <a:r>
                        <a:rPr lang="en-US" dirty="0"/>
                        <a:t>0.96</a:t>
                      </a:r>
                    </a:p>
                    <a:p>
                      <a:r>
                        <a:rPr lang="en-US" dirty="0"/>
                        <a:t>1.00</a:t>
                      </a:r>
                    </a:p>
                    <a:p>
                      <a:endParaRPr lang="en-IN" dirty="0"/>
                    </a:p>
                  </a:txBody>
                  <a:tcPr marL="74751" marR="74751"/>
                </a:tc>
                <a:tc>
                  <a:txBody>
                    <a:bodyPr/>
                    <a:lstStyle/>
                    <a:p>
                      <a:r>
                        <a:rPr lang="en-US" dirty="0"/>
                        <a:t>0.98</a:t>
                      </a:r>
                    </a:p>
                    <a:p>
                      <a:r>
                        <a:rPr lang="en-US" dirty="0"/>
                        <a:t>1.00</a:t>
                      </a:r>
                      <a:endParaRPr lang="en-IN" dirty="0"/>
                    </a:p>
                  </a:txBody>
                  <a:tcPr marL="74751" marR="74751"/>
                </a:tc>
                <a:tc>
                  <a:txBody>
                    <a:bodyPr/>
                    <a:lstStyle/>
                    <a:p>
                      <a:r>
                        <a:rPr lang="en-US" dirty="0"/>
                        <a:t>0.97</a:t>
                      </a:r>
                    </a:p>
                    <a:p>
                      <a:r>
                        <a:rPr lang="en-US" dirty="0"/>
                        <a:t>1.00</a:t>
                      </a:r>
                      <a:endParaRPr lang="en-IN" dirty="0"/>
                    </a:p>
                  </a:txBody>
                  <a:tcPr marL="74751" marR="74751"/>
                </a:tc>
                <a:tc>
                  <a:txBody>
                    <a:bodyPr/>
                    <a:lstStyle/>
                    <a:p>
                      <a:r>
                        <a:rPr lang="en-US" dirty="0"/>
                        <a:t>0.97</a:t>
                      </a:r>
                    </a:p>
                    <a:p>
                      <a:r>
                        <a:rPr lang="en-US" dirty="0"/>
                        <a:t>0.79</a:t>
                      </a:r>
                      <a:endParaRPr lang="en-IN" dirty="0"/>
                    </a:p>
                  </a:txBody>
                  <a:tcPr marL="74751" marR="74751"/>
                </a:tc>
                <a:tc>
                  <a:txBody>
                    <a:bodyPr/>
                    <a:lstStyle/>
                    <a:p>
                      <a:r>
                        <a:rPr lang="en-US" dirty="0"/>
                        <a:t>0.95</a:t>
                      </a:r>
                    </a:p>
                    <a:p>
                      <a:r>
                        <a:rPr lang="en-US" dirty="0"/>
                        <a:t>0.00</a:t>
                      </a:r>
                      <a:endParaRPr lang="en-IN" dirty="0"/>
                    </a:p>
                  </a:txBody>
                  <a:tcPr marL="74751" marR="74751"/>
                </a:tc>
                <a:tc>
                  <a:txBody>
                    <a:bodyPr/>
                    <a:lstStyle/>
                    <a:p>
                      <a:r>
                        <a:rPr lang="en-US" dirty="0"/>
                        <a:t>0.98</a:t>
                      </a:r>
                    </a:p>
                    <a:p>
                      <a:r>
                        <a:rPr lang="en-US" dirty="0"/>
                        <a:t>0.70</a:t>
                      </a:r>
                      <a:endParaRPr lang="en-IN" dirty="0"/>
                    </a:p>
                  </a:txBody>
                  <a:tcPr marL="74751" marR="74751"/>
                </a:tc>
                <a:tc>
                  <a:txBody>
                    <a:bodyPr/>
                    <a:lstStyle/>
                    <a:p>
                      <a:r>
                        <a:rPr lang="en-US" dirty="0"/>
                        <a:t>0.97</a:t>
                      </a:r>
                    </a:p>
                    <a:p>
                      <a:r>
                        <a:rPr lang="en-US" dirty="0"/>
                        <a:t>0.97</a:t>
                      </a:r>
                      <a:endParaRPr lang="en-IN" dirty="0"/>
                    </a:p>
                  </a:txBody>
                  <a:tcPr marL="74751" marR="74751"/>
                </a:tc>
                <a:tc>
                  <a:txBody>
                    <a:bodyPr/>
                    <a:lstStyle/>
                    <a:p>
                      <a:r>
                        <a:rPr lang="en-US" dirty="0"/>
                        <a:t>0.98</a:t>
                      </a:r>
                    </a:p>
                    <a:p>
                      <a:r>
                        <a:rPr lang="en-US" dirty="0"/>
                        <a:t>0.99</a:t>
                      </a:r>
                      <a:endParaRPr lang="en-IN" dirty="0"/>
                    </a:p>
                  </a:txBody>
                  <a:tcPr marL="74751" marR="74751"/>
                </a:tc>
                <a:extLst>
                  <a:ext uri="{0D108BD9-81ED-4DB2-BD59-A6C34878D82A}">
                    <a16:rowId xmlns:a16="http://schemas.microsoft.com/office/drawing/2014/main" val="2618516615"/>
                  </a:ext>
                </a:extLst>
              </a:tr>
              <a:tr h="1027090">
                <a:tc>
                  <a:txBody>
                    <a:bodyPr/>
                    <a:lstStyle/>
                    <a:p>
                      <a:r>
                        <a:rPr lang="en-US" dirty="0"/>
                        <a:t>Recall(0 and 1)</a:t>
                      </a:r>
                      <a:endParaRPr lang="en-IN" dirty="0"/>
                    </a:p>
                  </a:txBody>
                  <a:tcPr marL="74751" marR="74751"/>
                </a:tc>
                <a:tc>
                  <a:txBody>
                    <a:bodyPr/>
                    <a:lstStyle/>
                    <a:p>
                      <a:r>
                        <a:rPr lang="en-US" dirty="0"/>
                        <a:t>1.00</a:t>
                      </a:r>
                    </a:p>
                    <a:p>
                      <a:r>
                        <a:rPr lang="en-US" dirty="0"/>
                        <a:t>0.25</a:t>
                      </a:r>
                      <a:endParaRPr lang="en-IN" dirty="0"/>
                    </a:p>
                  </a:txBody>
                  <a:tcPr marL="74751" marR="74751"/>
                </a:tc>
                <a:tc>
                  <a:txBody>
                    <a:bodyPr/>
                    <a:lstStyle/>
                    <a:p>
                      <a:r>
                        <a:rPr lang="en-US" dirty="0"/>
                        <a:t>1.00</a:t>
                      </a:r>
                    </a:p>
                    <a:p>
                      <a:r>
                        <a:rPr lang="en-US" dirty="0"/>
                        <a:t>0.50</a:t>
                      </a:r>
                      <a:endParaRPr lang="en-IN" dirty="0"/>
                    </a:p>
                  </a:txBody>
                  <a:tcPr marL="74751" marR="74751"/>
                </a:tc>
                <a:tc>
                  <a:txBody>
                    <a:bodyPr/>
                    <a:lstStyle/>
                    <a:p>
                      <a:r>
                        <a:rPr lang="en-US" dirty="0"/>
                        <a:t>1.00</a:t>
                      </a:r>
                    </a:p>
                    <a:p>
                      <a:r>
                        <a:rPr lang="en-US" dirty="0"/>
                        <a:t>0.43</a:t>
                      </a:r>
                      <a:endParaRPr lang="en-IN" dirty="0"/>
                    </a:p>
                  </a:txBody>
                  <a:tcPr marL="74751" marR="74751"/>
                </a:tc>
                <a:tc>
                  <a:txBody>
                    <a:bodyPr/>
                    <a:lstStyle/>
                    <a:p>
                      <a:r>
                        <a:rPr lang="en-US" dirty="0"/>
                        <a:t>0.99</a:t>
                      </a:r>
                    </a:p>
                    <a:p>
                      <a:r>
                        <a:rPr lang="en-US" dirty="0"/>
                        <a:t>0.52</a:t>
                      </a:r>
                      <a:endParaRPr lang="en-IN" dirty="0"/>
                    </a:p>
                  </a:txBody>
                  <a:tcPr marL="74751" marR="74751"/>
                </a:tc>
                <a:tc>
                  <a:txBody>
                    <a:bodyPr/>
                    <a:lstStyle/>
                    <a:p>
                      <a:r>
                        <a:rPr lang="en-US" dirty="0"/>
                        <a:t>1.00</a:t>
                      </a:r>
                    </a:p>
                    <a:p>
                      <a:r>
                        <a:rPr lang="en-US" dirty="0"/>
                        <a:t>0.00</a:t>
                      </a:r>
                    </a:p>
                    <a:p>
                      <a:endParaRPr lang="en-IN" dirty="0"/>
                    </a:p>
                  </a:txBody>
                  <a:tcPr marL="74751" marR="74751"/>
                </a:tc>
                <a:tc>
                  <a:txBody>
                    <a:bodyPr/>
                    <a:lstStyle/>
                    <a:p>
                      <a:r>
                        <a:rPr lang="en-US" dirty="0"/>
                        <a:t>0.99</a:t>
                      </a:r>
                    </a:p>
                    <a:p>
                      <a:r>
                        <a:rPr lang="en-US" dirty="0"/>
                        <a:t>0.61</a:t>
                      </a:r>
                      <a:endParaRPr lang="en-IN" dirty="0"/>
                    </a:p>
                  </a:txBody>
                  <a:tcPr marL="74751" marR="74751"/>
                </a:tc>
                <a:tc>
                  <a:txBody>
                    <a:bodyPr/>
                    <a:lstStyle/>
                    <a:p>
                      <a:r>
                        <a:rPr lang="en-US" dirty="0"/>
                        <a:t>1.00</a:t>
                      </a:r>
                    </a:p>
                    <a:p>
                      <a:r>
                        <a:rPr lang="en-US" dirty="0"/>
                        <a:t>0.35</a:t>
                      </a:r>
                      <a:endParaRPr lang="en-IN" dirty="0"/>
                    </a:p>
                  </a:txBody>
                  <a:tcPr marL="74751" marR="74751"/>
                </a:tc>
                <a:tc>
                  <a:txBody>
                    <a:bodyPr/>
                    <a:lstStyle/>
                    <a:p>
                      <a:r>
                        <a:rPr lang="en-US" dirty="0"/>
                        <a:t>1.00</a:t>
                      </a:r>
                    </a:p>
                    <a:p>
                      <a:r>
                        <a:rPr lang="en-US" dirty="0"/>
                        <a:t>0.68</a:t>
                      </a:r>
                      <a:endParaRPr lang="en-IN" dirty="0"/>
                    </a:p>
                  </a:txBody>
                  <a:tcPr marL="74751" marR="74751"/>
                </a:tc>
                <a:extLst>
                  <a:ext uri="{0D108BD9-81ED-4DB2-BD59-A6C34878D82A}">
                    <a16:rowId xmlns:a16="http://schemas.microsoft.com/office/drawing/2014/main" val="2563115917"/>
                  </a:ext>
                </a:extLst>
              </a:tr>
              <a:tr h="1335218">
                <a:tc>
                  <a:txBody>
                    <a:bodyPr/>
                    <a:lstStyle/>
                    <a:p>
                      <a:r>
                        <a:rPr lang="en-US" dirty="0"/>
                        <a:t>F1-score (0 and 1)</a:t>
                      </a:r>
                      <a:endParaRPr lang="en-IN" dirty="0"/>
                    </a:p>
                  </a:txBody>
                  <a:tcPr marL="74751" marR="74751"/>
                </a:tc>
                <a:tc>
                  <a:txBody>
                    <a:bodyPr/>
                    <a:lstStyle/>
                    <a:p>
                      <a:r>
                        <a:rPr lang="en-US" dirty="0"/>
                        <a:t>0.98</a:t>
                      </a:r>
                    </a:p>
                    <a:p>
                      <a:r>
                        <a:rPr lang="en-US" dirty="0"/>
                        <a:t>0.40</a:t>
                      </a:r>
                    </a:p>
                    <a:p>
                      <a:endParaRPr lang="en-IN" dirty="0"/>
                    </a:p>
                  </a:txBody>
                  <a:tcPr marL="74751" marR="74751"/>
                </a:tc>
                <a:tc>
                  <a:txBody>
                    <a:bodyPr/>
                    <a:lstStyle/>
                    <a:p>
                      <a:r>
                        <a:rPr lang="en-US" dirty="0"/>
                        <a:t>0.99</a:t>
                      </a:r>
                    </a:p>
                    <a:p>
                      <a:r>
                        <a:rPr lang="en-US" dirty="0"/>
                        <a:t>0.67</a:t>
                      </a:r>
                      <a:endParaRPr lang="en-IN" dirty="0"/>
                    </a:p>
                  </a:txBody>
                  <a:tcPr marL="74751" marR="74751"/>
                </a:tc>
                <a:tc>
                  <a:txBody>
                    <a:bodyPr/>
                    <a:lstStyle/>
                    <a:p>
                      <a:r>
                        <a:rPr lang="en-US" dirty="0"/>
                        <a:t>0.99</a:t>
                      </a:r>
                    </a:p>
                    <a:p>
                      <a:r>
                        <a:rPr lang="en-US" dirty="0"/>
                        <a:t>0.60</a:t>
                      </a:r>
                      <a:endParaRPr lang="en-IN" dirty="0"/>
                    </a:p>
                  </a:txBody>
                  <a:tcPr marL="74751" marR="74751"/>
                </a:tc>
                <a:tc>
                  <a:txBody>
                    <a:bodyPr/>
                    <a:lstStyle/>
                    <a:p>
                      <a:r>
                        <a:rPr lang="en-US" dirty="0"/>
                        <a:t>0.98</a:t>
                      </a:r>
                    </a:p>
                    <a:p>
                      <a:r>
                        <a:rPr lang="en-US" dirty="0"/>
                        <a:t>0.63</a:t>
                      </a:r>
                      <a:endParaRPr lang="en-IN" dirty="0"/>
                    </a:p>
                  </a:txBody>
                  <a:tcPr marL="74751" marR="74751"/>
                </a:tc>
                <a:tc>
                  <a:txBody>
                    <a:bodyPr/>
                    <a:lstStyle/>
                    <a:p>
                      <a:r>
                        <a:rPr lang="en-US" dirty="0"/>
                        <a:t>0.97</a:t>
                      </a:r>
                    </a:p>
                    <a:p>
                      <a:r>
                        <a:rPr lang="en-US" dirty="0"/>
                        <a:t>0.00</a:t>
                      </a:r>
                      <a:endParaRPr lang="en-IN" dirty="0"/>
                    </a:p>
                  </a:txBody>
                  <a:tcPr marL="74751" marR="74751"/>
                </a:tc>
                <a:tc>
                  <a:txBody>
                    <a:bodyPr/>
                    <a:lstStyle/>
                    <a:p>
                      <a:r>
                        <a:rPr lang="en-US" dirty="0"/>
                        <a:t>0.98</a:t>
                      </a:r>
                    </a:p>
                    <a:p>
                      <a:r>
                        <a:rPr lang="en-US" dirty="0"/>
                        <a:t>0.65</a:t>
                      </a:r>
                      <a:endParaRPr lang="en-IN" dirty="0"/>
                    </a:p>
                  </a:txBody>
                  <a:tcPr marL="74751" marR="74751"/>
                </a:tc>
                <a:tc>
                  <a:txBody>
                    <a:bodyPr/>
                    <a:lstStyle/>
                    <a:p>
                      <a:r>
                        <a:rPr lang="en-US" dirty="0"/>
                        <a:t>0.98</a:t>
                      </a:r>
                    </a:p>
                    <a:p>
                      <a:r>
                        <a:rPr lang="en-US" dirty="0"/>
                        <a:t>0.51</a:t>
                      </a:r>
                      <a:endParaRPr lang="en-IN" dirty="0"/>
                    </a:p>
                  </a:txBody>
                  <a:tcPr marL="74751" marR="74751"/>
                </a:tc>
                <a:tc>
                  <a:txBody>
                    <a:bodyPr/>
                    <a:lstStyle/>
                    <a:p>
                      <a:r>
                        <a:rPr lang="en-US" dirty="0"/>
                        <a:t>0.99</a:t>
                      </a:r>
                    </a:p>
                    <a:p>
                      <a:r>
                        <a:rPr lang="en-US" dirty="0"/>
                        <a:t>0.81</a:t>
                      </a:r>
                      <a:endParaRPr lang="en-IN" dirty="0"/>
                    </a:p>
                  </a:txBody>
                  <a:tcPr marL="74751" marR="74751"/>
                </a:tc>
                <a:extLst>
                  <a:ext uri="{0D108BD9-81ED-4DB2-BD59-A6C34878D82A}">
                    <a16:rowId xmlns:a16="http://schemas.microsoft.com/office/drawing/2014/main" val="958379470"/>
                  </a:ext>
                </a:extLst>
              </a:tr>
              <a:tr h="718964">
                <a:tc>
                  <a:txBody>
                    <a:bodyPr/>
                    <a:lstStyle/>
                    <a:p>
                      <a:r>
                        <a:rPr lang="en-US" dirty="0"/>
                        <a:t>Accuracy</a:t>
                      </a:r>
                      <a:endParaRPr lang="en-IN" dirty="0"/>
                    </a:p>
                  </a:txBody>
                  <a:tcPr marL="74751" marR="74751"/>
                </a:tc>
                <a:tc>
                  <a:txBody>
                    <a:bodyPr/>
                    <a:lstStyle/>
                    <a:p>
                      <a:r>
                        <a:rPr lang="en-US" dirty="0"/>
                        <a:t>0.96</a:t>
                      </a:r>
                      <a:endParaRPr lang="en-IN" dirty="0"/>
                    </a:p>
                  </a:txBody>
                  <a:tcPr marL="74751" marR="74751"/>
                </a:tc>
                <a:tc>
                  <a:txBody>
                    <a:bodyPr/>
                    <a:lstStyle/>
                    <a:p>
                      <a:r>
                        <a:rPr lang="en-US" dirty="0"/>
                        <a:t>0.97</a:t>
                      </a:r>
                      <a:endParaRPr lang="en-IN" dirty="0"/>
                    </a:p>
                  </a:txBody>
                  <a:tcPr marL="74751" marR="74751"/>
                </a:tc>
                <a:tc>
                  <a:txBody>
                    <a:bodyPr/>
                    <a:lstStyle/>
                    <a:p>
                      <a:r>
                        <a:rPr lang="en-US" dirty="0"/>
                        <a:t>0.97</a:t>
                      </a:r>
                      <a:endParaRPr lang="en-IN" dirty="0"/>
                    </a:p>
                  </a:txBody>
                  <a:tcPr marL="74751" marR="74751"/>
                </a:tc>
                <a:tc>
                  <a:txBody>
                    <a:bodyPr/>
                    <a:lstStyle/>
                    <a:p>
                      <a:r>
                        <a:rPr lang="en-US" dirty="0"/>
                        <a:t>0.97</a:t>
                      </a:r>
                      <a:endParaRPr lang="en-IN" dirty="0"/>
                    </a:p>
                  </a:txBody>
                  <a:tcPr marL="74751" marR="74751"/>
                </a:tc>
                <a:tc>
                  <a:txBody>
                    <a:bodyPr/>
                    <a:lstStyle/>
                    <a:p>
                      <a:r>
                        <a:rPr lang="en-US" dirty="0"/>
                        <a:t>0.94</a:t>
                      </a:r>
                      <a:endParaRPr lang="en-IN" dirty="0"/>
                    </a:p>
                  </a:txBody>
                  <a:tcPr marL="74751" marR="74751"/>
                </a:tc>
                <a:tc>
                  <a:txBody>
                    <a:bodyPr/>
                    <a:lstStyle/>
                    <a:p>
                      <a:r>
                        <a:rPr lang="en-US" dirty="0"/>
                        <a:t>0.96</a:t>
                      </a:r>
                      <a:endParaRPr lang="en-IN" dirty="0"/>
                    </a:p>
                  </a:txBody>
                  <a:tcPr marL="74751" marR="74751"/>
                </a:tc>
                <a:tc>
                  <a:txBody>
                    <a:bodyPr/>
                    <a:lstStyle/>
                    <a:p>
                      <a:r>
                        <a:rPr lang="en-US" dirty="0"/>
                        <a:t>0.97</a:t>
                      </a:r>
                      <a:endParaRPr lang="en-IN" dirty="0"/>
                    </a:p>
                  </a:txBody>
                  <a:tcPr marL="74751" marR="74751"/>
                </a:tc>
                <a:tc>
                  <a:txBody>
                    <a:bodyPr/>
                    <a:lstStyle/>
                    <a:p>
                      <a:r>
                        <a:rPr lang="en-US" dirty="0"/>
                        <a:t>0.98</a:t>
                      </a:r>
                      <a:endParaRPr lang="en-IN" dirty="0"/>
                    </a:p>
                  </a:txBody>
                  <a:tcPr marL="74751" marR="74751"/>
                </a:tc>
                <a:extLst>
                  <a:ext uri="{0D108BD9-81ED-4DB2-BD59-A6C34878D82A}">
                    <a16:rowId xmlns:a16="http://schemas.microsoft.com/office/drawing/2014/main" val="1505495851"/>
                  </a:ext>
                </a:extLst>
              </a:tr>
            </a:tbl>
          </a:graphicData>
        </a:graphic>
      </p:graphicFrame>
    </p:spTree>
    <p:extLst>
      <p:ext uri="{BB962C8B-B14F-4D97-AF65-F5344CB8AC3E}">
        <p14:creationId xmlns:p14="http://schemas.microsoft.com/office/powerpoint/2010/main" val="1860832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B7EA7-F99F-49A4-AA7C-DD2AB49D046D}"/>
              </a:ext>
            </a:extLst>
          </p:cNvPr>
          <p:cNvSpPr>
            <a:spLocks noGrp="1"/>
          </p:cNvSpPr>
          <p:nvPr>
            <p:ph type="title"/>
          </p:nvPr>
        </p:nvSpPr>
        <p:spPr/>
        <p:txBody>
          <a:bodyPr/>
          <a:lstStyle/>
          <a:p>
            <a:r>
              <a:rPr lang="en-US" dirty="0"/>
              <a:t>Observation</a:t>
            </a:r>
            <a:endParaRPr lang="en-IN" dirty="0"/>
          </a:p>
        </p:txBody>
      </p:sp>
      <p:sp>
        <p:nvSpPr>
          <p:cNvPr id="3" name="Content Placeholder 2">
            <a:extLst>
              <a:ext uri="{FF2B5EF4-FFF2-40B4-BE49-F238E27FC236}">
                <a16:creationId xmlns:a16="http://schemas.microsoft.com/office/drawing/2014/main" id="{7A9AFB47-9E98-417B-802F-F38AF558A955}"/>
              </a:ext>
            </a:extLst>
          </p:cNvPr>
          <p:cNvSpPr>
            <a:spLocks noGrp="1"/>
          </p:cNvSpPr>
          <p:nvPr>
            <p:ph idx="1"/>
          </p:nvPr>
        </p:nvSpPr>
        <p:spPr/>
        <p:txBody>
          <a:bodyPr/>
          <a:lstStyle/>
          <a:p>
            <a:r>
              <a:rPr lang="en-IN" dirty="0"/>
              <a:t>In this project we have used various types of models on this dataset. But we find that some of models works very well and some does not.</a:t>
            </a:r>
          </a:p>
          <a:p>
            <a:r>
              <a:rPr lang="en-IN" dirty="0"/>
              <a:t> </a:t>
            </a:r>
            <a:r>
              <a:rPr lang="en-US" dirty="0"/>
              <a:t>By applying the classifiers we come to know that the Random Forest ,Naïve </a:t>
            </a:r>
            <a:r>
              <a:rPr lang="en-US" dirty="0" err="1"/>
              <a:t>Bayes,Bert</a:t>
            </a:r>
            <a:r>
              <a:rPr lang="en-US" dirty="0"/>
              <a:t> gives the better result in detecting the fake jobs compared to other models.</a:t>
            </a:r>
            <a:endParaRPr lang="en-IN" dirty="0"/>
          </a:p>
        </p:txBody>
      </p:sp>
    </p:spTree>
    <p:extLst>
      <p:ext uri="{BB962C8B-B14F-4D97-AF65-F5344CB8AC3E}">
        <p14:creationId xmlns:p14="http://schemas.microsoft.com/office/powerpoint/2010/main" val="3762471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39933-1B13-40B6-A081-4C89EF9A89C7}"/>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87B9A436-0048-453D-9BA8-58B02BBA6EC0}"/>
              </a:ext>
            </a:extLst>
          </p:cNvPr>
          <p:cNvSpPr>
            <a:spLocks noGrp="1"/>
          </p:cNvSpPr>
          <p:nvPr>
            <p:ph idx="1"/>
          </p:nvPr>
        </p:nvSpPr>
        <p:spPr/>
        <p:txBody>
          <a:bodyPr/>
          <a:lstStyle/>
          <a:p>
            <a:r>
              <a:rPr lang="en-US" dirty="0"/>
              <a:t>In this project we have applied machine learning , deep learning and others models which is used to classify and </a:t>
            </a:r>
            <a:r>
              <a:rPr lang="en-US" b="0" i="0" u="none" strike="noStrike" baseline="0" dirty="0">
                <a:latin typeface="Times New Roman" panose="02020603050405020304" pitchFamily="18" charset="0"/>
              </a:rPr>
              <a:t>detect fake jobs from real jobs in a large dataset of job posts.</a:t>
            </a:r>
          </a:p>
          <a:p>
            <a:r>
              <a:rPr lang="en-US" dirty="0"/>
              <a:t>After analyzing these performances, we conclude that having global knowledge of the dataset helps the model in preventing jobs. </a:t>
            </a:r>
          </a:p>
          <a:p>
            <a:endParaRPr lang="en-IN" dirty="0"/>
          </a:p>
        </p:txBody>
      </p:sp>
    </p:spTree>
    <p:extLst>
      <p:ext uri="{BB962C8B-B14F-4D97-AF65-F5344CB8AC3E}">
        <p14:creationId xmlns:p14="http://schemas.microsoft.com/office/powerpoint/2010/main" val="877373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48123-8CD3-401A-BC99-10B90FC39FAA}"/>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56505155-B2E4-4C89-A197-7B4BEBD2ADF3}"/>
              </a:ext>
            </a:extLst>
          </p:cNvPr>
          <p:cNvSpPr>
            <a:spLocks noGrp="1"/>
          </p:cNvSpPr>
          <p:nvPr>
            <p:ph idx="1"/>
          </p:nvPr>
        </p:nvSpPr>
        <p:spPr/>
        <p:txBody>
          <a:bodyPr/>
          <a:lstStyle/>
          <a:p>
            <a:r>
              <a:rPr lang="en-US" dirty="0" err="1"/>
              <a:t>Shwani</a:t>
            </a:r>
            <a:r>
              <a:rPr lang="en-US" dirty="0"/>
              <a:t>, D., &amp; Samir, K.B. (2020). Fake Job Recruitment Detection Using Machine Learning Approach. International Journal of Engineering Trends and Technology (IJETT).</a:t>
            </a:r>
          </a:p>
          <a:p>
            <a:r>
              <a:rPr lang="en-US" dirty="0" err="1"/>
              <a:t>Shivam</a:t>
            </a:r>
            <a:r>
              <a:rPr lang="en-US" dirty="0"/>
              <a:t> Bansal (2020, February). [Real or Fake] </a:t>
            </a:r>
            <a:r>
              <a:rPr lang="en-US" dirty="0" err="1"/>
              <a:t>FakeJobPosting</a:t>
            </a:r>
            <a:r>
              <a:rPr lang="en-US" dirty="0"/>
              <a:t> </a:t>
            </a:r>
            <a:r>
              <a:rPr lang="en-US" dirty="0" err="1"/>
              <a:t>Prediction,Version</a:t>
            </a:r>
            <a:r>
              <a:rPr lang="en-US" dirty="0"/>
              <a:t> 1.Retrieved March 29,2020 </a:t>
            </a:r>
            <a:r>
              <a:rPr lang="en-US" dirty="0">
                <a:hlinkClick r:id="rId2"/>
              </a:rPr>
              <a:t>https://www.kaggle.com/shivamb/real-or-fake-fake</a:t>
            </a:r>
            <a:r>
              <a:rPr lang="en-US" dirty="0"/>
              <a:t>fakejobposting-</a:t>
            </a:r>
          </a:p>
          <a:p>
            <a:r>
              <a:rPr lang="en-US" dirty="0"/>
              <a:t>Prediction.</a:t>
            </a:r>
            <a:endParaRPr lang="en-IN" dirty="0"/>
          </a:p>
        </p:txBody>
      </p:sp>
    </p:spTree>
    <p:extLst>
      <p:ext uri="{BB962C8B-B14F-4D97-AF65-F5344CB8AC3E}">
        <p14:creationId xmlns:p14="http://schemas.microsoft.com/office/powerpoint/2010/main" val="3634141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B859C-0491-4292-96B2-E9D28D025A13}"/>
              </a:ext>
            </a:extLst>
          </p:cNvPr>
          <p:cNvSpPr>
            <a:spLocks noGrp="1"/>
          </p:cNvSpPr>
          <p:nvPr>
            <p:ph type="title"/>
          </p:nvPr>
        </p:nvSpPr>
        <p:spPr>
          <a:xfrm>
            <a:off x="677334" y="609599"/>
            <a:ext cx="8596668" cy="5919019"/>
          </a:xfrm>
        </p:spPr>
        <p:txBody>
          <a:bodyPr/>
          <a:lstStyle/>
          <a:p>
            <a:r>
              <a:rPr lang="en-US" dirty="0"/>
              <a:t>           </a:t>
            </a:r>
            <a:br>
              <a:rPr lang="en-US" dirty="0"/>
            </a:br>
            <a:br>
              <a:rPr lang="en-US" dirty="0"/>
            </a:br>
            <a:br>
              <a:rPr lang="en-US" dirty="0"/>
            </a:br>
            <a:br>
              <a:rPr lang="en-US" dirty="0"/>
            </a:br>
            <a:r>
              <a:rPr lang="en-US" dirty="0"/>
              <a:t>                      THANK YOU</a:t>
            </a:r>
            <a:endParaRPr lang="en-IN" dirty="0"/>
          </a:p>
        </p:txBody>
      </p:sp>
    </p:spTree>
    <p:extLst>
      <p:ext uri="{BB962C8B-B14F-4D97-AF65-F5344CB8AC3E}">
        <p14:creationId xmlns:p14="http://schemas.microsoft.com/office/powerpoint/2010/main" val="264509691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764</TotalTime>
  <Words>980</Words>
  <Application>Microsoft Office PowerPoint</Application>
  <PresentationFormat>Widescreen</PresentationFormat>
  <Paragraphs>124</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Calibri</vt:lpstr>
      <vt:lpstr>Cambria Math</vt:lpstr>
      <vt:lpstr>Lato</vt:lpstr>
      <vt:lpstr>Roboto</vt:lpstr>
      <vt:lpstr>Times New Roman</vt:lpstr>
      <vt:lpstr>Trebuchet MS</vt:lpstr>
      <vt:lpstr>Wingdings 3</vt:lpstr>
      <vt:lpstr>Facet</vt:lpstr>
      <vt:lpstr>      FAKE JOB IDENTIFICATION              </vt:lpstr>
      <vt:lpstr>Problem Statement </vt:lpstr>
      <vt:lpstr>INTRODUCTION</vt:lpstr>
      <vt:lpstr>RELATED WORK</vt:lpstr>
      <vt:lpstr>Dataset </vt:lpstr>
      <vt:lpstr>PROPOSED METHODOLOGY</vt:lpstr>
      <vt:lpstr>DATA ANALYSIS</vt:lpstr>
      <vt:lpstr>PowerPoint Presentation</vt:lpstr>
      <vt:lpstr>PowerPoint Presentation</vt:lpstr>
      <vt:lpstr>PowerPoint Presentation</vt:lpstr>
      <vt:lpstr>Data Preprocessing</vt:lpstr>
      <vt:lpstr>Performance Evaluation Metrics</vt:lpstr>
      <vt:lpstr>Evaluation and Comparison of Machine Learning and Deep Learning Models</vt:lpstr>
      <vt:lpstr>PowerPoint Presentation</vt:lpstr>
      <vt:lpstr>Observation</vt:lpstr>
      <vt:lpstr>CONCLUSION</vt:lpstr>
      <vt:lpstr>REFERENCES</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Shubha Priya Ghosh</dc:creator>
  <cp:lastModifiedBy>Shubhapriya Ghosh</cp:lastModifiedBy>
  <cp:revision>136</cp:revision>
  <dcterms:created xsi:type="dcterms:W3CDTF">2021-11-09T15:52:47Z</dcterms:created>
  <dcterms:modified xsi:type="dcterms:W3CDTF">2026-04-25T13:20:56Z</dcterms:modified>
</cp:coreProperties>
</file>